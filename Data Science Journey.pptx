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6" d="100"/>
          <a:sy n="86" d="100"/>
        </p:scale>
        <p:origin x="708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40404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8000" b="0" i="0">
                <a:solidFill>
                  <a:srgbClr val="24242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40404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47" y="6400798"/>
            <a:ext cx="12188825" cy="457200"/>
          </a:xfrm>
          <a:custGeom>
            <a:avLst/>
            <a:gdLst/>
            <a:ahLst/>
            <a:cxnLst/>
            <a:rect l="l" t="t" r="r" b="b"/>
            <a:pathLst>
              <a:path w="12188825" h="457200">
                <a:moveTo>
                  <a:pt x="12188444" y="0"/>
                </a:moveTo>
                <a:lnTo>
                  <a:pt x="0" y="0"/>
                </a:lnTo>
                <a:lnTo>
                  <a:pt x="0" y="457199"/>
                </a:lnTo>
                <a:lnTo>
                  <a:pt x="12188444" y="457199"/>
                </a:lnTo>
                <a:lnTo>
                  <a:pt x="12188444" y="0"/>
                </a:lnTo>
                <a:close/>
              </a:path>
            </a:pathLst>
          </a:custGeom>
          <a:solidFill>
            <a:srgbClr val="BB56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333745"/>
            <a:ext cx="12188825" cy="64135"/>
          </a:xfrm>
          <a:custGeom>
            <a:avLst/>
            <a:gdLst/>
            <a:ahLst/>
            <a:cxnLst/>
            <a:rect l="l" t="t" r="r" b="b"/>
            <a:pathLst>
              <a:path w="12188825" h="64135">
                <a:moveTo>
                  <a:pt x="12188444" y="0"/>
                </a:moveTo>
                <a:lnTo>
                  <a:pt x="0" y="0"/>
                </a:lnTo>
                <a:lnTo>
                  <a:pt x="0" y="63879"/>
                </a:lnTo>
                <a:lnTo>
                  <a:pt x="12188444" y="63879"/>
                </a:lnTo>
                <a:lnTo>
                  <a:pt x="12188444" y="0"/>
                </a:lnTo>
                <a:close/>
              </a:path>
            </a:pathLst>
          </a:custGeom>
          <a:solidFill>
            <a:srgbClr val="E2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207008" y="4343400"/>
            <a:ext cx="9875520" cy="0"/>
          </a:xfrm>
          <a:custGeom>
            <a:avLst/>
            <a:gdLst/>
            <a:ahLst/>
            <a:cxnLst/>
            <a:rect l="l" t="t" r="r" b="b"/>
            <a:pathLst>
              <a:path w="9875520">
                <a:moveTo>
                  <a:pt x="0" y="0"/>
                </a:moveTo>
                <a:lnTo>
                  <a:pt x="987552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40404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47" y="6400798"/>
            <a:ext cx="12188825" cy="457200"/>
          </a:xfrm>
          <a:custGeom>
            <a:avLst/>
            <a:gdLst/>
            <a:ahLst/>
            <a:cxnLst/>
            <a:rect l="l" t="t" r="r" b="b"/>
            <a:pathLst>
              <a:path w="12188825" h="457200">
                <a:moveTo>
                  <a:pt x="12188444" y="0"/>
                </a:moveTo>
                <a:lnTo>
                  <a:pt x="0" y="0"/>
                </a:lnTo>
                <a:lnTo>
                  <a:pt x="0" y="457199"/>
                </a:lnTo>
                <a:lnTo>
                  <a:pt x="12188444" y="457199"/>
                </a:lnTo>
                <a:lnTo>
                  <a:pt x="12188444" y="0"/>
                </a:lnTo>
                <a:close/>
              </a:path>
            </a:pathLst>
          </a:custGeom>
          <a:solidFill>
            <a:srgbClr val="BB56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333745"/>
            <a:ext cx="12188825" cy="64135"/>
          </a:xfrm>
          <a:custGeom>
            <a:avLst/>
            <a:gdLst/>
            <a:ahLst/>
            <a:cxnLst/>
            <a:rect l="l" t="t" r="r" b="b"/>
            <a:pathLst>
              <a:path w="12188825" h="64135">
                <a:moveTo>
                  <a:pt x="12188444" y="0"/>
                </a:moveTo>
                <a:lnTo>
                  <a:pt x="0" y="0"/>
                </a:lnTo>
                <a:lnTo>
                  <a:pt x="0" y="63879"/>
                </a:lnTo>
                <a:lnTo>
                  <a:pt x="12188444" y="63879"/>
                </a:lnTo>
                <a:lnTo>
                  <a:pt x="12188444" y="0"/>
                </a:lnTo>
                <a:close/>
              </a:path>
            </a:pathLst>
          </a:custGeom>
          <a:solidFill>
            <a:srgbClr val="E2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207008" y="4343400"/>
            <a:ext cx="9875520" cy="0"/>
          </a:xfrm>
          <a:custGeom>
            <a:avLst/>
            <a:gdLst/>
            <a:ahLst/>
            <a:cxnLst/>
            <a:rect l="l" t="t" r="r" b="b"/>
            <a:pathLst>
              <a:path w="9875520">
                <a:moveTo>
                  <a:pt x="0" y="0"/>
                </a:moveTo>
                <a:lnTo>
                  <a:pt x="987552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400798"/>
            <a:ext cx="12192000" cy="457200"/>
          </a:xfrm>
          <a:custGeom>
            <a:avLst/>
            <a:gdLst/>
            <a:ahLst/>
            <a:cxnLst/>
            <a:rect l="l" t="t" r="r" b="b"/>
            <a:pathLst>
              <a:path w="12192000" h="457200">
                <a:moveTo>
                  <a:pt x="12192000" y="0"/>
                </a:moveTo>
                <a:lnTo>
                  <a:pt x="0" y="0"/>
                </a:lnTo>
                <a:lnTo>
                  <a:pt x="0" y="457199"/>
                </a:lnTo>
                <a:lnTo>
                  <a:pt x="12192000" y="457199"/>
                </a:lnTo>
                <a:lnTo>
                  <a:pt x="12192000" y="0"/>
                </a:lnTo>
                <a:close/>
              </a:path>
            </a:pathLst>
          </a:custGeom>
          <a:solidFill>
            <a:srgbClr val="BB56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333744"/>
            <a:ext cx="12192000" cy="67310"/>
          </a:xfrm>
          <a:custGeom>
            <a:avLst/>
            <a:gdLst/>
            <a:ahLst/>
            <a:cxnLst/>
            <a:rect l="l" t="t" r="r" b="b"/>
            <a:pathLst>
              <a:path w="12192000" h="67310">
                <a:moveTo>
                  <a:pt x="12192000" y="0"/>
                </a:moveTo>
                <a:lnTo>
                  <a:pt x="0" y="0"/>
                </a:lnTo>
                <a:lnTo>
                  <a:pt x="0" y="66801"/>
                </a:lnTo>
                <a:lnTo>
                  <a:pt x="12192000" y="66801"/>
                </a:lnTo>
                <a:lnTo>
                  <a:pt x="12192000" y="0"/>
                </a:lnTo>
                <a:close/>
              </a:path>
            </a:pathLst>
          </a:custGeom>
          <a:solidFill>
            <a:srgbClr val="E2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19149" y="260984"/>
            <a:ext cx="10153700" cy="13804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rgbClr val="40404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71575" y="1622485"/>
            <a:ext cx="9848849" cy="45599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0" b="0" i="0">
                <a:solidFill>
                  <a:srgbClr val="24242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948416" y="6568541"/>
            <a:ext cx="213359" cy="1600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0">
                <a:solidFill>
                  <a:schemeClr val="bg1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navassherif98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3" Type="http://schemas.openxmlformats.org/officeDocument/2006/relationships/image" Target="../media/image4.png"/><Relationship Id="rId21" Type="http://schemas.openxmlformats.org/officeDocument/2006/relationships/image" Target="../media/image22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23" Type="http://schemas.openxmlformats.org/officeDocument/2006/relationships/hyperlink" Target="https://github.com/navassherif98/IBM_Data_Science_Professional_Certification/blob/master/10.Applied_Data_Science_Capstone/Week%201%20Introduction/Data%20Collection%20Api%20.ipynb" TargetMode="External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Relationship Id="rId22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jpg"/><Relationship Id="rId3" Type="http://schemas.openxmlformats.org/officeDocument/2006/relationships/image" Target="../media/image25.jp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17" Type="http://schemas.openxmlformats.org/officeDocument/2006/relationships/hyperlink" Target="https://github.com/navassherif98/IBM_Data_Science_Professional_Certification/blob/master/10.Applied_Data_Science_Capstone/Week%201%20Introduction/Data%20Collection%20with%20Web%20Scraping.ipynb" TargetMode="External"/><Relationship Id="rId2" Type="http://schemas.openxmlformats.org/officeDocument/2006/relationships/image" Target="../media/image24.png"/><Relationship Id="rId16" Type="http://schemas.openxmlformats.org/officeDocument/2006/relationships/image" Target="../media/image3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5" Type="http://schemas.openxmlformats.org/officeDocument/2006/relationships/image" Target="../media/image3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Relationship Id="rId14" Type="http://schemas.openxmlformats.org/officeDocument/2006/relationships/image" Target="../media/image3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navassherif98/IBM_Data_Science_Professional_Certification/blob/master/10.Applied_Data_Science_Capstone/Week%201%20Introduction/Data%20wrangling%20.ipynb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navassherif98/IBM_Data_Science_Professional_Certification/blob/master/10.Applied_Data_Science_Capstone/Week%202%20EDA/EDA%20with%20Visualization.ipynb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navassherif98/IBM_Data_Science_Professional_Certification/blob/master/10.Applied_Data_Science_Capstone/Week%202%20EDA/EDA%20with%20SQL.ipynb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navassherif98/IBM_Data_Science_Professional_Certification/blob/master/10.Applied_Data_Science_Capstone/Week%203%20Interactive%20Visual%20Analytics%20and%20Dashboard/Interactive%20Visual%20Analytics%20with%20Folium.ipynb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navassherif98/IBM_Data_Science_Professional_Certification/blob/master/10.Applied_Data_Science_Capstone/Week%203%20Interactive%20Visual%20Analytics%20and%20Dashboard/spacex_dash_app.py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navassherif98/IBM_Data_Science_Professional_Certification/blob/master/10.Applied_Data_Science_Capstone/Week%204%20Predictive%20Analysis%20(Classification)/Machine%20Learning%20Prediction.ipynb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jp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jp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5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ursera.org/professional-certificates/ibm-data-science?&amp;instructors" TargetMode="External"/><Relationship Id="rId2" Type="http://schemas.openxmlformats.org/officeDocument/2006/relationships/hyperlink" Target="https://github.com/navassherif98/IBM_Data_Science_Professional_Certification/blob/master/10.Applied_Data_Science_Capstone/Week%204%20Predictive%20Analysis%20(Classification)/Machine%20Learning%20Prediction.ipynb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333745"/>
            <a:ext cx="12192000" cy="524510"/>
            <a:chOff x="0" y="6333745"/>
            <a:chExt cx="12192000" cy="524510"/>
          </a:xfrm>
        </p:grpSpPr>
        <p:sp>
          <p:nvSpPr>
            <p:cNvPr id="3" name="object 3"/>
            <p:cNvSpPr/>
            <p:nvPr/>
          </p:nvSpPr>
          <p:spPr>
            <a:xfrm>
              <a:off x="3047" y="6400798"/>
              <a:ext cx="12188825" cy="457200"/>
            </a:xfrm>
            <a:custGeom>
              <a:avLst/>
              <a:gdLst/>
              <a:ahLst/>
              <a:cxnLst/>
              <a:rect l="l" t="t" r="r" b="b"/>
              <a:pathLst>
                <a:path w="12188825" h="457200">
                  <a:moveTo>
                    <a:pt x="12188444" y="0"/>
                  </a:moveTo>
                  <a:lnTo>
                    <a:pt x="0" y="0"/>
                  </a:lnTo>
                  <a:lnTo>
                    <a:pt x="0" y="457199"/>
                  </a:lnTo>
                  <a:lnTo>
                    <a:pt x="12188444" y="457199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BB56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333745"/>
              <a:ext cx="12188825" cy="64135"/>
            </a:xfrm>
            <a:custGeom>
              <a:avLst/>
              <a:gdLst/>
              <a:ahLst/>
              <a:cxnLst/>
              <a:rect l="l" t="t" r="r" b="b"/>
              <a:pathLst>
                <a:path w="12188825" h="64135">
                  <a:moveTo>
                    <a:pt x="12188444" y="0"/>
                  </a:moveTo>
                  <a:lnTo>
                    <a:pt x="0" y="0"/>
                  </a:lnTo>
                  <a:lnTo>
                    <a:pt x="0" y="63879"/>
                  </a:lnTo>
                  <a:lnTo>
                    <a:pt x="12188444" y="63879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1207008" y="4343400"/>
            <a:ext cx="9875520" cy="0"/>
          </a:xfrm>
          <a:custGeom>
            <a:avLst/>
            <a:gdLst/>
            <a:ahLst/>
            <a:cxnLst/>
            <a:rect l="l" t="t" r="r" b="b"/>
            <a:pathLst>
              <a:path w="9875520">
                <a:moveTo>
                  <a:pt x="0" y="0"/>
                </a:moveTo>
                <a:lnTo>
                  <a:pt x="987552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xfrm>
            <a:off x="1171575" y="1622485"/>
            <a:ext cx="9848849" cy="2589365"/>
          </a:xfrm>
          <a:prstGeom prst="rect">
            <a:avLst/>
          </a:prstGeom>
        </p:spPr>
        <p:txBody>
          <a:bodyPr vert="horz" wrap="square" lIns="0" tIns="481523" rIns="0" bIns="0" rtlCol="0">
            <a:spAutoFit/>
          </a:bodyPr>
          <a:lstStyle/>
          <a:p>
            <a:pPr marL="16510" marR="5080">
              <a:lnSpc>
                <a:spcPts val="8200"/>
              </a:lnSpc>
              <a:spcBef>
                <a:spcPts val="1540"/>
              </a:spcBef>
            </a:pPr>
            <a:r>
              <a:rPr sz="8800" spc="-535" dirty="0">
                <a:solidFill>
                  <a:srgbClr val="000000"/>
                </a:solidFill>
                <a:latin typeface="Bahnschrift Light SemiCondensed" panose="020B0502040204020203" pitchFamily="34" charset="0"/>
              </a:rPr>
              <a:t>Data </a:t>
            </a:r>
            <a:r>
              <a:rPr sz="8800" spc="-630" dirty="0">
                <a:solidFill>
                  <a:srgbClr val="000000"/>
                </a:solidFill>
                <a:latin typeface="Bahnschrift Light SemiCondensed" panose="020B0502040204020203" pitchFamily="34" charset="0"/>
              </a:rPr>
              <a:t>Science</a:t>
            </a:r>
            <a:r>
              <a:rPr sz="8800" spc="-869" dirty="0">
                <a:solidFill>
                  <a:srgbClr val="000000"/>
                </a:solidFill>
                <a:latin typeface="Bahnschrift Light SemiCondensed" panose="020B0502040204020203" pitchFamily="34" charset="0"/>
              </a:rPr>
              <a:t> </a:t>
            </a:r>
            <a:r>
              <a:rPr sz="8800" spc="-565" dirty="0">
                <a:solidFill>
                  <a:srgbClr val="000000"/>
                </a:solidFill>
                <a:latin typeface="Bahnschrift Light SemiCondensed" panose="020B0502040204020203" pitchFamily="34" charset="0"/>
              </a:rPr>
              <a:t>Capstone  </a:t>
            </a:r>
            <a:r>
              <a:rPr sz="8800" spc="-360" dirty="0">
                <a:solidFill>
                  <a:srgbClr val="000000"/>
                </a:solidFill>
                <a:latin typeface="Bahnschrift Light SemiCondensed" panose="020B0502040204020203" pitchFamily="34" charset="0"/>
              </a:rPr>
              <a:t>Project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176019" y="4300220"/>
            <a:ext cx="5885180" cy="1422825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lang="en-IN" sz="2400" spc="-175" dirty="0">
                <a:solidFill>
                  <a:srgbClr val="616E52"/>
                </a:solidFill>
                <a:latin typeface="Arial"/>
                <a:cs typeface="Arial"/>
              </a:rPr>
              <a:t>Navas Sherif I</a:t>
            </a:r>
            <a:endParaRPr sz="2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lang="en-IN" sz="2400" spc="70" dirty="0">
                <a:solidFill>
                  <a:srgbClr val="616E52"/>
                </a:solidFill>
                <a:latin typeface="Arial"/>
                <a:cs typeface="Arial"/>
                <a:hlinkClick r:id="rId2"/>
              </a:rPr>
              <a:t>https://github.com/navassherif98</a:t>
            </a:r>
            <a:endParaRPr lang="en-IN" sz="2400" spc="70" dirty="0">
              <a:solidFill>
                <a:srgbClr val="616E52"/>
              </a:solidFill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400" spc="130" dirty="0">
                <a:solidFill>
                  <a:srgbClr val="616E52"/>
                </a:solidFill>
                <a:latin typeface="Arial"/>
                <a:cs typeface="Arial"/>
              </a:rPr>
              <a:t>2</a:t>
            </a:r>
            <a:r>
              <a:rPr lang="en-IN" sz="2400" spc="130" dirty="0">
                <a:solidFill>
                  <a:srgbClr val="616E52"/>
                </a:solidFill>
                <a:latin typeface="Arial"/>
                <a:cs typeface="Arial"/>
              </a:rPr>
              <a:t>2</a:t>
            </a:r>
            <a:r>
              <a:rPr sz="2400" spc="130" dirty="0">
                <a:solidFill>
                  <a:srgbClr val="616E52"/>
                </a:solidFill>
                <a:latin typeface="Arial"/>
                <a:cs typeface="Arial"/>
              </a:rPr>
              <a:t>/08/2021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6618" rIns="0" bIns="0" rtlCol="0">
            <a:spAutoFit/>
          </a:bodyPr>
          <a:lstStyle/>
          <a:p>
            <a:pPr marL="168910">
              <a:lnSpc>
                <a:spcPct val="100000"/>
              </a:lnSpc>
              <a:spcBef>
                <a:spcPts val="100"/>
              </a:spcBef>
              <a:tabLst>
                <a:tab pos="10140315" algn="l"/>
              </a:tabLst>
            </a:pPr>
            <a:r>
              <a:rPr u="heavy" spc="-190" dirty="0">
                <a:uFill>
                  <a:solidFill>
                    <a:srgbClr val="7D7D7D"/>
                  </a:solidFill>
                </a:uFill>
              </a:rPr>
              <a:t>Outline	</a:t>
            </a:r>
          </a:p>
        </p:txBody>
      </p:sp>
      <p:sp>
        <p:nvSpPr>
          <p:cNvPr id="3" name="object 3"/>
          <p:cNvSpPr/>
          <p:nvPr/>
        </p:nvSpPr>
        <p:spPr>
          <a:xfrm>
            <a:off x="1566672" y="2470404"/>
            <a:ext cx="2968752" cy="23042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288404" y="2168423"/>
            <a:ext cx="2814320" cy="2569845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9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spc="-30" dirty="0">
                <a:solidFill>
                  <a:srgbClr val="BB562C"/>
                </a:solidFill>
                <a:latin typeface="Carlito"/>
                <a:cs typeface="Carlito"/>
              </a:rPr>
              <a:t>Executive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Summary</a:t>
            </a:r>
            <a:r>
              <a:rPr sz="2200" spc="-10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(3)</a:t>
            </a:r>
            <a:endParaRPr sz="22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69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Introduction</a:t>
            </a:r>
            <a:r>
              <a:rPr sz="2200" spc="-40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10" dirty="0">
                <a:solidFill>
                  <a:srgbClr val="BB562C"/>
                </a:solidFill>
                <a:latin typeface="Carlito"/>
                <a:cs typeface="Carlito"/>
              </a:rPr>
              <a:t>(4)</a:t>
            </a:r>
            <a:endParaRPr sz="22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70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Methodology</a:t>
            </a:r>
            <a:r>
              <a:rPr sz="2200" spc="-60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(6)</a:t>
            </a:r>
            <a:endParaRPr sz="22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71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Results</a:t>
            </a:r>
            <a:r>
              <a:rPr sz="2200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(16)</a:t>
            </a:r>
            <a:endParaRPr sz="22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69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spc="-10" dirty="0">
                <a:solidFill>
                  <a:srgbClr val="BB562C"/>
                </a:solidFill>
                <a:latin typeface="Carlito"/>
                <a:cs typeface="Carlito"/>
              </a:rPr>
              <a:t>Conclusion</a:t>
            </a:r>
            <a:r>
              <a:rPr sz="2200" spc="-80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(46)</a:t>
            </a:r>
            <a:endParaRPr sz="22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69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Appendix</a:t>
            </a:r>
            <a:r>
              <a:rPr sz="2200" spc="-90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(47)</a:t>
            </a:r>
            <a:endParaRPr sz="2200">
              <a:latin typeface="Carlito"/>
              <a:cs typeface="Carli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948416" y="6568541"/>
            <a:ext cx="144780" cy="160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sz="1050" dirty="0">
                <a:solidFill>
                  <a:srgbClr val="FFFFFF"/>
                </a:solidFill>
                <a:latin typeface="Carlito"/>
                <a:cs typeface="Carlito"/>
              </a:rPr>
              <a:t>2</a:t>
            </a:fld>
            <a:endParaRPr sz="105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6618" rIns="0" bIns="0" rtlCol="0">
            <a:spAutoFit/>
          </a:bodyPr>
          <a:lstStyle/>
          <a:p>
            <a:pPr marL="168910">
              <a:lnSpc>
                <a:spcPct val="100000"/>
              </a:lnSpc>
              <a:spcBef>
                <a:spcPts val="100"/>
              </a:spcBef>
              <a:tabLst>
                <a:tab pos="10140315" algn="l"/>
              </a:tabLst>
            </a:pPr>
            <a:r>
              <a:rPr u="heavy" spc="-330" dirty="0">
                <a:uFill>
                  <a:solidFill>
                    <a:srgbClr val="7D7D7D"/>
                  </a:solidFill>
                </a:uFill>
              </a:rPr>
              <a:t>Executive</a:t>
            </a:r>
            <a:r>
              <a:rPr u="heavy" spc="-495" dirty="0">
                <a:uFill>
                  <a:solidFill>
                    <a:srgbClr val="7D7D7D"/>
                  </a:solidFill>
                </a:uFill>
              </a:rPr>
              <a:t> </a:t>
            </a:r>
            <a:r>
              <a:rPr u="heavy" spc="-370" dirty="0">
                <a:uFill>
                  <a:solidFill>
                    <a:srgbClr val="7D7D7D"/>
                  </a:solidFill>
                </a:uFill>
              </a:rPr>
              <a:t>Summary	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948416" y="6568541"/>
            <a:ext cx="144780" cy="160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sz="1050" dirty="0">
                <a:solidFill>
                  <a:srgbClr val="FFFFFF"/>
                </a:solidFill>
                <a:latin typeface="Carlito"/>
                <a:cs typeface="Carlito"/>
              </a:rPr>
              <a:t>3</a:t>
            </a:fld>
            <a:endParaRPr sz="1050">
              <a:latin typeface="Carlito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20267" y="2220213"/>
            <a:ext cx="10164445" cy="3639185"/>
          </a:xfrm>
          <a:prstGeom prst="rect">
            <a:avLst/>
          </a:prstGeom>
        </p:spPr>
        <p:txBody>
          <a:bodyPr vert="horz" wrap="square" lIns="0" tIns="45719" rIns="0" bIns="0" rtlCol="0">
            <a:spAutoFit/>
          </a:bodyPr>
          <a:lstStyle/>
          <a:p>
            <a:pPr marL="241300" marR="142875" indent="-228600">
              <a:lnSpc>
                <a:spcPct val="90000"/>
              </a:lnSpc>
              <a:spcBef>
                <a:spcPts val="359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Collected </a:t>
            </a:r>
            <a:r>
              <a:rPr sz="2200" spc="-35" dirty="0">
                <a:solidFill>
                  <a:srgbClr val="BB562C"/>
                </a:solidFill>
                <a:latin typeface="Carlito"/>
                <a:cs typeface="Carlito"/>
              </a:rPr>
              <a:t>data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from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public SpaceX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API and </a:t>
            </a:r>
            <a:r>
              <a:rPr sz="2200" spc="-10" dirty="0">
                <a:solidFill>
                  <a:srgbClr val="BB562C"/>
                </a:solidFill>
                <a:latin typeface="Carlito"/>
                <a:cs typeface="Carlito"/>
              </a:rPr>
              <a:t>SpaceX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Wikipedia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page.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Created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labels 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column </a:t>
            </a:r>
            <a:r>
              <a:rPr sz="2200" spc="-35" dirty="0">
                <a:solidFill>
                  <a:srgbClr val="BB562C"/>
                </a:solidFill>
                <a:latin typeface="Carlito"/>
                <a:cs typeface="Carlito"/>
              </a:rPr>
              <a:t>‘class’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which classifies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successful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landings.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Explored </a:t>
            </a:r>
            <a:r>
              <a:rPr sz="2200" spc="-35" dirty="0">
                <a:solidFill>
                  <a:srgbClr val="BB562C"/>
                </a:solidFill>
                <a:latin typeface="Carlito"/>
                <a:cs typeface="Carlito"/>
              </a:rPr>
              <a:t>data </a:t>
            </a:r>
            <a:r>
              <a:rPr sz="2200" spc="-10" dirty="0">
                <a:solidFill>
                  <a:srgbClr val="BB562C"/>
                </a:solidFill>
                <a:latin typeface="Carlito"/>
                <a:cs typeface="Carlito"/>
              </a:rPr>
              <a:t>using </a:t>
            </a:r>
            <a:r>
              <a:rPr sz="2200" dirty="0">
                <a:solidFill>
                  <a:srgbClr val="BB562C"/>
                </a:solidFill>
                <a:latin typeface="Carlito"/>
                <a:cs typeface="Carlito"/>
              </a:rPr>
              <a:t>SQL, 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visualization,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folium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maps,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and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dashboards.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Gathered </a:t>
            </a:r>
            <a:r>
              <a:rPr sz="2200" spc="-30" dirty="0">
                <a:solidFill>
                  <a:srgbClr val="BB562C"/>
                </a:solidFill>
                <a:latin typeface="Carlito"/>
                <a:cs typeface="Carlito"/>
              </a:rPr>
              <a:t>relevant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columns </a:t>
            </a:r>
            <a:r>
              <a:rPr sz="2200" spc="-30" dirty="0">
                <a:solidFill>
                  <a:srgbClr val="BB562C"/>
                </a:solidFill>
                <a:latin typeface="Carlito"/>
                <a:cs typeface="Carlito"/>
              </a:rPr>
              <a:t>to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be </a:t>
            </a:r>
            <a:r>
              <a:rPr sz="2200" spc="-10" dirty="0">
                <a:solidFill>
                  <a:srgbClr val="BB562C"/>
                </a:solidFill>
                <a:latin typeface="Carlito"/>
                <a:cs typeface="Carlito"/>
              </a:rPr>
              <a:t>used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as  </a:t>
            </a:r>
            <a:r>
              <a:rPr sz="2200" spc="-30" dirty="0">
                <a:solidFill>
                  <a:srgbClr val="BB562C"/>
                </a:solidFill>
                <a:latin typeface="Carlito"/>
                <a:cs typeface="Carlito"/>
              </a:rPr>
              <a:t>features.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Changed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all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categorical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variables </a:t>
            </a:r>
            <a:r>
              <a:rPr sz="2200" spc="-30" dirty="0">
                <a:solidFill>
                  <a:srgbClr val="BB562C"/>
                </a:solidFill>
                <a:latin typeface="Carlito"/>
                <a:cs typeface="Carlito"/>
              </a:rPr>
              <a:t>to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binary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using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one hot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encoding. 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Standardized </a:t>
            </a:r>
            <a:r>
              <a:rPr sz="2200" spc="-35" dirty="0">
                <a:solidFill>
                  <a:srgbClr val="BB562C"/>
                </a:solidFill>
                <a:latin typeface="Carlito"/>
                <a:cs typeface="Carlito"/>
              </a:rPr>
              <a:t>data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and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used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GridSearchCV </a:t>
            </a:r>
            <a:r>
              <a:rPr sz="2200" spc="-30" dirty="0">
                <a:solidFill>
                  <a:srgbClr val="BB562C"/>
                </a:solidFill>
                <a:latin typeface="Carlito"/>
                <a:cs typeface="Carlito"/>
              </a:rPr>
              <a:t>to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find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best </a:t>
            </a:r>
            <a:r>
              <a:rPr sz="2200" spc="-40" dirty="0">
                <a:solidFill>
                  <a:srgbClr val="BB562C"/>
                </a:solidFill>
                <a:latin typeface="Carlito"/>
                <a:cs typeface="Carlito"/>
              </a:rPr>
              <a:t>parameters </a:t>
            </a:r>
            <a:r>
              <a:rPr sz="2200" spc="-35" dirty="0">
                <a:solidFill>
                  <a:srgbClr val="BB562C"/>
                </a:solidFill>
                <a:latin typeface="Carlito"/>
                <a:cs typeface="Carlito"/>
              </a:rPr>
              <a:t>for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machine learning  models.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Visualize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accuracy score </a:t>
            </a:r>
            <a:r>
              <a:rPr sz="2200" dirty="0">
                <a:solidFill>
                  <a:srgbClr val="BB562C"/>
                </a:solidFill>
                <a:latin typeface="Carlito"/>
                <a:cs typeface="Carlito"/>
              </a:rPr>
              <a:t>of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all</a:t>
            </a:r>
            <a:r>
              <a:rPr sz="2200" spc="-40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models.</a:t>
            </a:r>
            <a:endParaRPr sz="2200">
              <a:latin typeface="Carlito"/>
              <a:cs typeface="Carlito"/>
            </a:endParaRPr>
          </a:p>
          <a:p>
            <a:pPr>
              <a:lnSpc>
                <a:spcPct val="100000"/>
              </a:lnSpc>
              <a:buClr>
                <a:srgbClr val="BB562C"/>
              </a:buClr>
              <a:buFont typeface="Arial"/>
              <a:buChar char="•"/>
            </a:pPr>
            <a:endParaRPr sz="2200">
              <a:latin typeface="Carlito"/>
              <a:cs typeface="Carlito"/>
            </a:endParaRPr>
          </a:p>
          <a:p>
            <a:pPr marL="241300" marR="5080" indent="-228600">
              <a:lnSpc>
                <a:spcPct val="90900"/>
              </a:lnSpc>
              <a:spcBef>
                <a:spcPts val="164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Four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machine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learning models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were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produced: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Logistic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Regression,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Support </a:t>
            </a:r>
            <a:r>
              <a:rPr sz="2200" spc="-50" dirty="0">
                <a:solidFill>
                  <a:srgbClr val="BB562C"/>
                </a:solidFill>
                <a:latin typeface="Carlito"/>
                <a:cs typeface="Carlito"/>
              </a:rPr>
              <a:t>Vector 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Machine,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Decision </a:t>
            </a:r>
            <a:r>
              <a:rPr sz="2200" spc="-80" dirty="0">
                <a:solidFill>
                  <a:srgbClr val="BB562C"/>
                </a:solidFill>
                <a:latin typeface="Carlito"/>
                <a:cs typeface="Carlito"/>
              </a:rPr>
              <a:t>Tree </a:t>
            </a:r>
            <a:r>
              <a:rPr sz="2200" spc="-45" dirty="0">
                <a:solidFill>
                  <a:srgbClr val="BB562C"/>
                </a:solidFill>
                <a:latin typeface="Carlito"/>
                <a:cs typeface="Carlito"/>
              </a:rPr>
              <a:t>Classifier,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and K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Nearest Neighbors.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All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produced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similar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results 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with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accuracy </a:t>
            </a:r>
            <a:r>
              <a:rPr sz="2200" spc="-45" dirty="0">
                <a:solidFill>
                  <a:srgbClr val="BB562C"/>
                </a:solidFill>
                <a:latin typeface="Carlito"/>
                <a:cs typeface="Carlito"/>
              </a:rPr>
              <a:t>rate </a:t>
            </a:r>
            <a:r>
              <a:rPr sz="2200" dirty="0">
                <a:solidFill>
                  <a:srgbClr val="BB562C"/>
                </a:solidFill>
                <a:latin typeface="Carlito"/>
                <a:cs typeface="Carlito"/>
              </a:rPr>
              <a:t>of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about 83.33%. All models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over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predicted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successful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landings.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More  </a:t>
            </a:r>
            <a:r>
              <a:rPr sz="2200" spc="-35" dirty="0">
                <a:solidFill>
                  <a:srgbClr val="BB562C"/>
                </a:solidFill>
                <a:latin typeface="Carlito"/>
                <a:cs typeface="Carlito"/>
              </a:rPr>
              <a:t>data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is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needed </a:t>
            </a:r>
            <a:r>
              <a:rPr sz="2200" spc="-35" dirty="0">
                <a:solidFill>
                  <a:srgbClr val="BB562C"/>
                </a:solidFill>
                <a:latin typeface="Carlito"/>
                <a:cs typeface="Carlito"/>
              </a:rPr>
              <a:t>for </a:t>
            </a:r>
            <a:r>
              <a:rPr sz="2200" spc="-40" dirty="0">
                <a:solidFill>
                  <a:srgbClr val="BB562C"/>
                </a:solidFill>
                <a:latin typeface="Carlito"/>
                <a:cs typeface="Carlito"/>
              </a:rPr>
              <a:t>better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model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determination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and</a:t>
            </a:r>
            <a:r>
              <a:rPr sz="2200" spc="204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50" dirty="0">
                <a:solidFill>
                  <a:srgbClr val="BB562C"/>
                </a:solidFill>
                <a:latin typeface="Carlito"/>
                <a:cs typeface="Carlito"/>
              </a:rPr>
              <a:t>accuracy.</a:t>
            </a:r>
            <a:endParaRPr sz="2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333745"/>
            <a:ext cx="12192000" cy="524510"/>
            <a:chOff x="0" y="6333745"/>
            <a:chExt cx="12192000" cy="524510"/>
          </a:xfrm>
        </p:grpSpPr>
        <p:sp>
          <p:nvSpPr>
            <p:cNvPr id="3" name="object 3"/>
            <p:cNvSpPr/>
            <p:nvPr/>
          </p:nvSpPr>
          <p:spPr>
            <a:xfrm>
              <a:off x="3047" y="6400798"/>
              <a:ext cx="12188825" cy="457200"/>
            </a:xfrm>
            <a:custGeom>
              <a:avLst/>
              <a:gdLst/>
              <a:ahLst/>
              <a:cxnLst/>
              <a:rect l="l" t="t" r="r" b="b"/>
              <a:pathLst>
                <a:path w="12188825" h="457200">
                  <a:moveTo>
                    <a:pt x="12188444" y="0"/>
                  </a:moveTo>
                  <a:lnTo>
                    <a:pt x="0" y="0"/>
                  </a:lnTo>
                  <a:lnTo>
                    <a:pt x="0" y="457199"/>
                  </a:lnTo>
                  <a:lnTo>
                    <a:pt x="12188444" y="457199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BB56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333745"/>
              <a:ext cx="12188825" cy="64135"/>
            </a:xfrm>
            <a:custGeom>
              <a:avLst/>
              <a:gdLst/>
              <a:ahLst/>
              <a:cxnLst/>
              <a:rect l="l" t="t" r="r" b="b"/>
              <a:pathLst>
                <a:path w="12188825" h="64135">
                  <a:moveTo>
                    <a:pt x="12188444" y="0"/>
                  </a:moveTo>
                  <a:lnTo>
                    <a:pt x="0" y="0"/>
                  </a:lnTo>
                  <a:lnTo>
                    <a:pt x="0" y="63879"/>
                  </a:lnTo>
                  <a:lnTo>
                    <a:pt x="12188444" y="63879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054100" y="171653"/>
            <a:ext cx="299783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5" dirty="0"/>
              <a:t>Introduction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399279" y="456013"/>
            <a:ext cx="6793230" cy="4457065"/>
          </a:xfrm>
          <a:prstGeom prst="rect">
            <a:avLst/>
          </a:prstGeom>
        </p:spPr>
        <p:txBody>
          <a:bodyPr vert="horz" wrap="square" lIns="0" tIns="161290" rIns="0" bIns="0" rtlCol="0">
            <a:spAutoFit/>
          </a:bodyPr>
          <a:lstStyle/>
          <a:p>
            <a:pPr marL="2499995">
              <a:lnSpc>
                <a:spcPct val="100000"/>
              </a:lnSpc>
              <a:spcBef>
                <a:spcPts val="1270"/>
              </a:spcBef>
            </a:pPr>
            <a:r>
              <a:rPr sz="3000" u="heavy" spc="-20" dirty="0">
                <a:solidFill>
                  <a:srgbClr val="BB562C"/>
                </a:solidFill>
                <a:uFill>
                  <a:solidFill>
                    <a:srgbClr val="BB562C"/>
                  </a:solidFill>
                </a:uFill>
                <a:latin typeface="Carlito"/>
                <a:cs typeface="Carlito"/>
              </a:rPr>
              <a:t>Background:</a:t>
            </a:r>
            <a:endParaRPr sz="3000">
              <a:latin typeface="Carlito"/>
              <a:cs typeface="Carlito"/>
            </a:endParaRPr>
          </a:p>
          <a:p>
            <a:pPr marL="253365" indent="-229235">
              <a:lnSpc>
                <a:spcPct val="100000"/>
              </a:lnSpc>
              <a:spcBef>
                <a:spcPts val="850"/>
              </a:spcBef>
              <a:buFont typeface="Arial"/>
              <a:buChar char="•"/>
              <a:tabLst>
                <a:tab pos="253365" algn="l"/>
                <a:tab pos="254000" algn="l"/>
              </a:tabLst>
            </a:pP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Commercial </a:t>
            </a:r>
            <a:r>
              <a:rPr sz="2200" spc="-10" dirty="0">
                <a:solidFill>
                  <a:srgbClr val="BB562C"/>
                </a:solidFill>
                <a:latin typeface="Carlito"/>
                <a:cs typeface="Carlito"/>
              </a:rPr>
              <a:t>Space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Age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is</a:t>
            </a:r>
            <a:r>
              <a:rPr sz="2200" spc="50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Here</a:t>
            </a:r>
            <a:endParaRPr sz="2200">
              <a:latin typeface="Carlito"/>
              <a:cs typeface="Carlito"/>
            </a:endParaRPr>
          </a:p>
          <a:p>
            <a:pPr marL="253365" indent="-229235">
              <a:lnSpc>
                <a:spcPct val="100000"/>
              </a:lnSpc>
              <a:spcBef>
                <a:spcPts val="705"/>
              </a:spcBef>
              <a:buFont typeface="Arial"/>
              <a:buChar char="•"/>
              <a:tabLst>
                <a:tab pos="253365" algn="l"/>
                <a:tab pos="254000" algn="l"/>
              </a:tabLst>
            </a:pP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Space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X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has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best pricing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($62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million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vs.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$165 million</a:t>
            </a:r>
            <a:r>
              <a:rPr sz="2200" spc="25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USD)</a:t>
            </a:r>
            <a:endParaRPr sz="2200">
              <a:latin typeface="Carlito"/>
              <a:cs typeface="Carlito"/>
            </a:endParaRPr>
          </a:p>
          <a:p>
            <a:pPr marL="253365" indent="-229235">
              <a:lnSpc>
                <a:spcPct val="100000"/>
              </a:lnSpc>
              <a:spcBef>
                <a:spcPts val="695"/>
              </a:spcBef>
              <a:buFont typeface="Arial"/>
              <a:buChar char="•"/>
              <a:tabLst>
                <a:tab pos="253365" algn="l"/>
                <a:tab pos="254000" algn="l"/>
              </a:tabLst>
            </a:pP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Largely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due </a:t>
            </a:r>
            <a:r>
              <a:rPr sz="2200" spc="-30" dirty="0">
                <a:solidFill>
                  <a:srgbClr val="BB562C"/>
                </a:solidFill>
                <a:latin typeface="Carlito"/>
                <a:cs typeface="Carlito"/>
              </a:rPr>
              <a:t>to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ability </a:t>
            </a:r>
            <a:r>
              <a:rPr sz="2200" spc="-30" dirty="0">
                <a:solidFill>
                  <a:srgbClr val="BB562C"/>
                </a:solidFill>
                <a:latin typeface="Carlito"/>
                <a:cs typeface="Carlito"/>
              </a:rPr>
              <a:t>to recover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part </a:t>
            </a:r>
            <a:r>
              <a:rPr sz="2200" dirty="0">
                <a:solidFill>
                  <a:srgbClr val="BB562C"/>
                </a:solidFill>
                <a:latin typeface="Carlito"/>
                <a:cs typeface="Carlito"/>
              </a:rPr>
              <a:t>of </a:t>
            </a:r>
            <a:r>
              <a:rPr sz="2200" spc="-45" dirty="0">
                <a:solidFill>
                  <a:srgbClr val="BB562C"/>
                </a:solidFill>
                <a:latin typeface="Carlito"/>
                <a:cs typeface="Carlito"/>
              </a:rPr>
              <a:t>rocket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(Stage</a:t>
            </a:r>
            <a:r>
              <a:rPr sz="2200" spc="135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1)</a:t>
            </a:r>
            <a:endParaRPr sz="2200">
              <a:latin typeface="Carlito"/>
              <a:cs typeface="Carlito"/>
            </a:endParaRPr>
          </a:p>
          <a:p>
            <a:pPr marL="253365" indent="-229235">
              <a:lnSpc>
                <a:spcPct val="100000"/>
              </a:lnSpc>
              <a:spcBef>
                <a:spcPts val="700"/>
              </a:spcBef>
              <a:buFont typeface="Arial"/>
              <a:buChar char="•"/>
              <a:tabLst>
                <a:tab pos="253365" algn="l"/>
                <a:tab pos="254000" algn="l"/>
              </a:tabLst>
            </a:pP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Space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Y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wants </a:t>
            </a:r>
            <a:r>
              <a:rPr sz="2200" spc="-30" dirty="0">
                <a:solidFill>
                  <a:srgbClr val="BB562C"/>
                </a:solidFill>
                <a:latin typeface="Carlito"/>
                <a:cs typeface="Carlito"/>
              </a:rPr>
              <a:t>to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compete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with </a:t>
            </a:r>
            <a:r>
              <a:rPr sz="2200" spc="-10" dirty="0">
                <a:solidFill>
                  <a:srgbClr val="BB562C"/>
                </a:solidFill>
                <a:latin typeface="Carlito"/>
                <a:cs typeface="Carlito"/>
              </a:rPr>
              <a:t>Space</a:t>
            </a:r>
            <a:r>
              <a:rPr sz="2200" spc="60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X</a:t>
            </a:r>
            <a:endParaRPr sz="2200">
              <a:latin typeface="Carlito"/>
              <a:cs typeface="Carlito"/>
            </a:endParaRPr>
          </a:p>
          <a:p>
            <a:pPr>
              <a:lnSpc>
                <a:spcPct val="100000"/>
              </a:lnSpc>
              <a:buClr>
                <a:srgbClr val="BB562C"/>
              </a:buClr>
              <a:buFont typeface="Arial"/>
              <a:buChar char="•"/>
            </a:pPr>
            <a:endParaRPr sz="25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BB562C"/>
              </a:buClr>
              <a:buFont typeface="Arial"/>
              <a:buChar char="•"/>
            </a:pPr>
            <a:endParaRPr sz="3350">
              <a:latin typeface="Carlito"/>
              <a:cs typeface="Carlito"/>
            </a:endParaRPr>
          </a:p>
          <a:p>
            <a:pPr marL="144780" algn="ctr">
              <a:lnSpc>
                <a:spcPct val="100000"/>
              </a:lnSpc>
            </a:pPr>
            <a:r>
              <a:rPr sz="3000" u="heavy" spc="-20" dirty="0">
                <a:solidFill>
                  <a:srgbClr val="BB562C"/>
                </a:solidFill>
                <a:uFill>
                  <a:solidFill>
                    <a:srgbClr val="BB562C"/>
                  </a:solidFill>
                </a:uFill>
                <a:latin typeface="Carlito"/>
                <a:cs typeface="Carlito"/>
              </a:rPr>
              <a:t>Problem:</a:t>
            </a:r>
            <a:endParaRPr sz="3000">
              <a:latin typeface="Carlito"/>
              <a:cs typeface="Carlito"/>
            </a:endParaRPr>
          </a:p>
          <a:p>
            <a:pPr marL="240665" marR="591185" indent="-240665">
              <a:lnSpc>
                <a:spcPts val="2510"/>
              </a:lnSpc>
              <a:spcBef>
                <a:spcPts val="90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spc="-10" dirty="0">
                <a:solidFill>
                  <a:srgbClr val="BB562C"/>
                </a:solidFill>
                <a:latin typeface="Carlito"/>
                <a:cs typeface="Carlito"/>
              </a:rPr>
              <a:t>Space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Y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tasks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us </a:t>
            </a:r>
            <a:r>
              <a:rPr sz="2200" spc="-30" dirty="0">
                <a:solidFill>
                  <a:srgbClr val="BB562C"/>
                </a:solidFill>
                <a:latin typeface="Carlito"/>
                <a:cs typeface="Carlito"/>
              </a:rPr>
              <a:t>to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train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a machine learning model </a:t>
            </a:r>
            <a:r>
              <a:rPr sz="2200" spc="-60" dirty="0">
                <a:solidFill>
                  <a:srgbClr val="BB562C"/>
                </a:solidFill>
                <a:latin typeface="Carlito"/>
                <a:cs typeface="Carlito"/>
              </a:rPr>
              <a:t>to 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predict successful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Stage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1</a:t>
            </a:r>
            <a:r>
              <a:rPr sz="2200" spc="45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recovery</a:t>
            </a:r>
            <a:endParaRPr sz="2200">
              <a:latin typeface="Carlito"/>
              <a:cs typeface="Carli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10311" y="1178052"/>
            <a:ext cx="4043171" cy="40446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636267" y="5198109"/>
            <a:ext cx="25425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arlito"/>
                <a:cs typeface="Carlito"/>
              </a:rPr>
              <a:t>SpaceX </a:t>
            </a:r>
            <a:r>
              <a:rPr sz="1400" spc="-20" dirty="0">
                <a:latin typeface="Carlito"/>
                <a:cs typeface="Carlito"/>
              </a:rPr>
              <a:t>Falcon </a:t>
            </a:r>
            <a:r>
              <a:rPr sz="1400" dirty="0">
                <a:latin typeface="Carlito"/>
                <a:cs typeface="Carlito"/>
              </a:rPr>
              <a:t>9 </a:t>
            </a:r>
            <a:r>
              <a:rPr sz="1400" spc="-25" dirty="0">
                <a:latin typeface="Carlito"/>
                <a:cs typeface="Carlito"/>
              </a:rPr>
              <a:t>Rocket </a:t>
            </a:r>
            <a:r>
              <a:rPr sz="1400" dirty="0">
                <a:latin typeface="Carlito"/>
                <a:cs typeface="Carlito"/>
              </a:rPr>
              <a:t>– </a:t>
            </a:r>
            <a:r>
              <a:rPr sz="1400" spc="-5" dirty="0">
                <a:latin typeface="Carlito"/>
                <a:cs typeface="Carlito"/>
              </a:rPr>
              <a:t>The</a:t>
            </a:r>
            <a:r>
              <a:rPr sz="1400" spc="-185" dirty="0">
                <a:latin typeface="Carlito"/>
                <a:cs typeface="Carlito"/>
              </a:rPr>
              <a:t> </a:t>
            </a:r>
            <a:r>
              <a:rPr sz="1400" spc="-45" dirty="0">
                <a:latin typeface="Carlito"/>
                <a:cs typeface="Carlito"/>
              </a:rPr>
              <a:t>Verge</a:t>
            </a:r>
            <a:endParaRPr sz="1400">
              <a:latin typeface="Carlito"/>
              <a:cs typeface="Carli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948416" y="6568541"/>
            <a:ext cx="144780" cy="160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sz="1050" dirty="0">
                <a:solidFill>
                  <a:srgbClr val="FFFFFF"/>
                </a:solidFill>
                <a:latin typeface="Carlito"/>
                <a:cs typeface="Carlito"/>
              </a:rPr>
              <a:t>4</a:t>
            </a:fld>
            <a:endParaRPr sz="105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6618" rIns="0" bIns="0" rtlCol="0">
            <a:spAutoFit/>
          </a:bodyPr>
          <a:lstStyle/>
          <a:p>
            <a:pPr marL="168910">
              <a:lnSpc>
                <a:spcPct val="100000"/>
              </a:lnSpc>
              <a:spcBef>
                <a:spcPts val="100"/>
              </a:spcBef>
              <a:tabLst>
                <a:tab pos="10140315" algn="l"/>
              </a:tabLst>
            </a:pPr>
            <a:r>
              <a:rPr u="heavy" spc="-190" dirty="0">
                <a:uFill>
                  <a:solidFill>
                    <a:srgbClr val="7D7D7D"/>
                  </a:solidFill>
                </a:uFill>
              </a:rPr>
              <a:t>Methodology	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948416" y="6568541"/>
            <a:ext cx="144780" cy="160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sz="1050" dirty="0">
                <a:solidFill>
                  <a:srgbClr val="FFFFFF"/>
                </a:solidFill>
                <a:latin typeface="Carlito"/>
                <a:cs typeface="Carlito"/>
              </a:rPr>
              <a:t>5</a:t>
            </a:fld>
            <a:endParaRPr sz="1050">
              <a:latin typeface="Carlito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83665" y="1742066"/>
            <a:ext cx="7760970" cy="315404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484"/>
              </a:spcBef>
              <a:buFont typeface="Arial"/>
              <a:buChar char="•"/>
              <a:tabLst>
                <a:tab pos="240665" algn="l"/>
                <a:tab pos="241935" algn="l"/>
              </a:tabLst>
            </a:pPr>
            <a:r>
              <a:rPr sz="2200" spc="-35" dirty="0">
                <a:solidFill>
                  <a:srgbClr val="BB562C"/>
                </a:solidFill>
                <a:latin typeface="Carlito"/>
                <a:cs typeface="Carlito"/>
              </a:rPr>
              <a:t>Data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collection</a:t>
            </a:r>
            <a:r>
              <a:rPr sz="2200" spc="15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methodology:</a:t>
            </a:r>
            <a:endParaRPr sz="2200">
              <a:latin typeface="Carlito"/>
              <a:cs typeface="Carlito"/>
            </a:endParaRPr>
          </a:p>
          <a:p>
            <a:pPr marL="698500" lvl="1" indent="-229235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697865" algn="l"/>
                <a:tab pos="699135" algn="l"/>
              </a:tabLst>
            </a:pP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Combined </a:t>
            </a:r>
            <a:r>
              <a:rPr sz="1800" spc="-20" dirty="0">
                <a:solidFill>
                  <a:srgbClr val="BB562C"/>
                </a:solidFill>
                <a:latin typeface="Carlito"/>
                <a:cs typeface="Carlito"/>
              </a:rPr>
              <a:t>data from </a:t>
            </a: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SpaceX public </a:t>
            </a:r>
            <a:r>
              <a:rPr sz="1800" dirty="0">
                <a:solidFill>
                  <a:srgbClr val="BB562C"/>
                </a:solidFill>
                <a:latin typeface="Carlito"/>
                <a:cs typeface="Carlito"/>
              </a:rPr>
              <a:t>API and </a:t>
            </a: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SpaceX Wikipedia</a:t>
            </a:r>
            <a:r>
              <a:rPr sz="1800" spc="15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page</a:t>
            </a:r>
            <a:endParaRPr sz="1800">
              <a:latin typeface="Carlito"/>
              <a:cs typeface="Carlito"/>
            </a:endParaRPr>
          </a:p>
          <a:p>
            <a:pPr marL="241300" indent="-229235">
              <a:lnSpc>
                <a:spcPct val="100000"/>
              </a:lnSpc>
              <a:spcBef>
                <a:spcPts val="1485"/>
              </a:spcBef>
              <a:buFont typeface="Arial"/>
              <a:buChar char="•"/>
              <a:tabLst>
                <a:tab pos="240665" algn="l"/>
                <a:tab pos="241935" algn="l"/>
              </a:tabLst>
            </a:pPr>
            <a:r>
              <a:rPr sz="2200" spc="-40" dirty="0">
                <a:solidFill>
                  <a:srgbClr val="BB562C"/>
                </a:solidFill>
                <a:latin typeface="Carlito"/>
                <a:cs typeface="Carlito"/>
              </a:rPr>
              <a:t>Perform </a:t>
            </a:r>
            <a:r>
              <a:rPr sz="2200" spc="-35" dirty="0">
                <a:solidFill>
                  <a:srgbClr val="BB562C"/>
                </a:solidFill>
                <a:latin typeface="Carlito"/>
                <a:cs typeface="Carlito"/>
              </a:rPr>
              <a:t>data</a:t>
            </a:r>
            <a:r>
              <a:rPr sz="2200" spc="35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wrangling</a:t>
            </a:r>
            <a:endParaRPr sz="2200">
              <a:latin typeface="Carlito"/>
              <a:cs typeface="Carlito"/>
            </a:endParaRPr>
          </a:p>
          <a:p>
            <a:pPr marL="698500" lvl="1" indent="-229235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697865" algn="l"/>
                <a:tab pos="699135" algn="l"/>
              </a:tabLst>
            </a:pP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Classifying true landings </a:t>
            </a:r>
            <a:r>
              <a:rPr sz="1800" dirty="0">
                <a:solidFill>
                  <a:srgbClr val="BB562C"/>
                </a:solidFill>
                <a:latin typeface="Carlito"/>
                <a:cs typeface="Carlito"/>
              </a:rPr>
              <a:t>as </a:t>
            </a: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successful </a:t>
            </a:r>
            <a:r>
              <a:rPr sz="1800" dirty="0">
                <a:solidFill>
                  <a:srgbClr val="BB562C"/>
                </a:solidFill>
                <a:latin typeface="Carlito"/>
                <a:cs typeface="Carlito"/>
              </a:rPr>
              <a:t>and </a:t>
            </a:r>
            <a:r>
              <a:rPr sz="1800" spc="-10" dirty="0">
                <a:solidFill>
                  <a:srgbClr val="BB562C"/>
                </a:solidFill>
                <a:latin typeface="Carlito"/>
                <a:cs typeface="Carlito"/>
              </a:rPr>
              <a:t>unsuccessful</a:t>
            </a:r>
            <a:r>
              <a:rPr sz="1800" spc="-50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otherwise</a:t>
            </a:r>
            <a:endParaRPr sz="1800">
              <a:latin typeface="Carlito"/>
              <a:cs typeface="Carlito"/>
            </a:endParaRPr>
          </a:p>
          <a:p>
            <a:pPr marL="241300" indent="-229235">
              <a:lnSpc>
                <a:spcPct val="100000"/>
              </a:lnSpc>
              <a:spcBef>
                <a:spcPts val="680"/>
              </a:spcBef>
              <a:buFont typeface="Arial"/>
              <a:buChar char="•"/>
              <a:tabLst>
                <a:tab pos="240665" algn="l"/>
                <a:tab pos="241935" algn="l"/>
              </a:tabLst>
            </a:pPr>
            <a:r>
              <a:rPr sz="2200" spc="-40" dirty="0">
                <a:solidFill>
                  <a:srgbClr val="BB562C"/>
                </a:solidFill>
                <a:latin typeface="Carlito"/>
                <a:cs typeface="Carlito"/>
              </a:rPr>
              <a:t>Perform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exploratory </a:t>
            </a:r>
            <a:r>
              <a:rPr sz="2200" spc="-35" dirty="0">
                <a:solidFill>
                  <a:srgbClr val="BB562C"/>
                </a:solidFill>
                <a:latin typeface="Carlito"/>
                <a:cs typeface="Carlito"/>
              </a:rPr>
              <a:t>data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analysis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(EDA)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using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visualization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and</a:t>
            </a:r>
            <a:r>
              <a:rPr sz="2200" spc="155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SQL</a:t>
            </a:r>
            <a:endParaRPr sz="2200">
              <a:latin typeface="Carlito"/>
              <a:cs typeface="Carlito"/>
            </a:endParaRPr>
          </a:p>
          <a:p>
            <a:pPr marL="241300" indent="-229235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40665" algn="l"/>
                <a:tab pos="241935" algn="l"/>
              </a:tabLst>
            </a:pPr>
            <a:r>
              <a:rPr sz="2200" spc="-40" dirty="0">
                <a:solidFill>
                  <a:srgbClr val="BB562C"/>
                </a:solidFill>
                <a:latin typeface="Carlito"/>
                <a:cs typeface="Carlito"/>
              </a:rPr>
              <a:t>Perform </a:t>
            </a:r>
            <a:r>
              <a:rPr sz="2200" spc="-30" dirty="0">
                <a:solidFill>
                  <a:srgbClr val="BB562C"/>
                </a:solidFill>
                <a:latin typeface="Carlito"/>
                <a:cs typeface="Carlito"/>
              </a:rPr>
              <a:t>interactive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visual analytics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using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Folium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and Plotly</a:t>
            </a:r>
            <a:r>
              <a:rPr sz="2200" spc="10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Dash</a:t>
            </a:r>
            <a:endParaRPr sz="2200">
              <a:latin typeface="Carlito"/>
              <a:cs typeface="Carlito"/>
            </a:endParaRPr>
          </a:p>
          <a:p>
            <a:pPr marL="241300" indent="-229235">
              <a:lnSpc>
                <a:spcPct val="100000"/>
              </a:lnSpc>
              <a:spcBef>
                <a:spcPts val="1440"/>
              </a:spcBef>
              <a:buFont typeface="Arial"/>
              <a:buChar char="•"/>
              <a:tabLst>
                <a:tab pos="240665" algn="l"/>
                <a:tab pos="241935" algn="l"/>
              </a:tabLst>
            </a:pPr>
            <a:r>
              <a:rPr sz="2200" spc="-40" dirty="0">
                <a:solidFill>
                  <a:srgbClr val="BB562C"/>
                </a:solidFill>
                <a:latin typeface="Carlito"/>
                <a:cs typeface="Carlito"/>
              </a:rPr>
              <a:t>Perform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predictive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analysis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using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classification</a:t>
            </a:r>
            <a:r>
              <a:rPr sz="2200" spc="170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models</a:t>
            </a:r>
            <a:endParaRPr sz="2200">
              <a:latin typeface="Carlito"/>
              <a:cs typeface="Carlito"/>
            </a:endParaRPr>
          </a:p>
          <a:p>
            <a:pPr marL="698500" lvl="1" indent="-229235">
              <a:lnSpc>
                <a:spcPct val="100000"/>
              </a:lnSpc>
              <a:spcBef>
                <a:spcPts val="325"/>
              </a:spcBef>
              <a:buFont typeface="Arial"/>
              <a:buChar char="•"/>
              <a:tabLst>
                <a:tab pos="697865" algn="l"/>
                <a:tab pos="699135" algn="l"/>
              </a:tabLst>
            </a:pPr>
            <a:r>
              <a:rPr sz="1800" spc="-45" dirty="0">
                <a:solidFill>
                  <a:srgbClr val="BB562C"/>
                </a:solidFill>
                <a:latin typeface="Carlito"/>
                <a:cs typeface="Carlito"/>
              </a:rPr>
              <a:t>Tuned </a:t>
            </a:r>
            <a:r>
              <a:rPr sz="1800" dirty="0">
                <a:solidFill>
                  <a:srgbClr val="BB562C"/>
                </a:solidFill>
                <a:latin typeface="Carlito"/>
                <a:cs typeface="Carlito"/>
              </a:rPr>
              <a:t>models </a:t>
            </a: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using</a:t>
            </a:r>
            <a:r>
              <a:rPr sz="1800" spc="10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1800" spc="-20" dirty="0">
                <a:solidFill>
                  <a:srgbClr val="BB562C"/>
                </a:solidFill>
                <a:latin typeface="Carlito"/>
                <a:cs typeface="Carlito"/>
              </a:rPr>
              <a:t>GridSearchCV</a:t>
            </a:r>
            <a:endParaRPr sz="18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019" y="2927985"/>
            <a:ext cx="5450840" cy="12452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0" spc="-285" dirty="0">
                <a:solidFill>
                  <a:srgbClr val="242424"/>
                </a:solidFill>
                <a:latin typeface="Arial"/>
                <a:cs typeface="Arial"/>
              </a:rPr>
              <a:t>Methodology</a:t>
            </a:r>
            <a:endParaRPr sz="8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948416" y="6568541"/>
            <a:ext cx="144780" cy="160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sz="1050" dirty="0">
                <a:solidFill>
                  <a:srgbClr val="FFFFFF"/>
                </a:solidFill>
                <a:latin typeface="Carlito"/>
                <a:cs typeface="Carlito"/>
              </a:rPr>
              <a:t>6</a:t>
            </a:fld>
            <a:endParaRPr sz="1050">
              <a:latin typeface="Carlito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76019" y="4417517"/>
            <a:ext cx="8895080" cy="722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745"/>
              </a:lnSpc>
              <a:spcBef>
                <a:spcPts val="100"/>
              </a:spcBef>
            </a:pPr>
            <a:r>
              <a:rPr sz="2400" spc="-165" dirty="0">
                <a:solidFill>
                  <a:srgbClr val="616E52"/>
                </a:solidFill>
                <a:latin typeface="Arial"/>
                <a:cs typeface="Arial"/>
              </a:rPr>
              <a:t>OVERVIEW </a:t>
            </a:r>
            <a:r>
              <a:rPr sz="2400" spc="-285" dirty="0">
                <a:solidFill>
                  <a:srgbClr val="616E52"/>
                </a:solidFill>
                <a:latin typeface="Arial"/>
                <a:cs typeface="Arial"/>
              </a:rPr>
              <a:t>OF </a:t>
            </a:r>
            <a:r>
              <a:rPr sz="2400" spc="-340" dirty="0">
                <a:solidFill>
                  <a:srgbClr val="616E52"/>
                </a:solidFill>
                <a:latin typeface="Arial"/>
                <a:cs typeface="Arial"/>
              </a:rPr>
              <a:t>DATA </a:t>
            </a:r>
            <a:r>
              <a:rPr sz="2400" spc="-140" dirty="0">
                <a:solidFill>
                  <a:srgbClr val="616E52"/>
                </a:solidFill>
                <a:latin typeface="Arial"/>
                <a:cs typeface="Arial"/>
              </a:rPr>
              <a:t>COLLECTION, </a:t>
            </a:r>
            <a:r>
              <a:rPr sz="2400" spc="-95" dirty="0">
                <a:solidFill>
                  <a:srgbClr val="616E52"/>
                </a:solidFill>
                <a:latin typeface="Arial"/>
                <a:cs typeface="Arial"/>
              </a:rPr>
              <a:t>WRANGLING,</a:t>
            </a:r>
            <a:r>
              <a:rPr sz="2400" spc="-120" dirty="0">
                <a:solidFill>
                  <a:srgbClr val="616E52"/>
                </a:solidFill>
                <a:latin typeface="Arial"/>
                <a:cs typeface="Arial"/>
              </a:rPr>
              <a:t> </a:t>
            </a:r>
            <a:r>
              <a:rPr sz="2400" spc="-105" dirty="0">
                <a:solidFill>
                  <a:srgbClr val="616E52"/>
                </a:solidFill>
                <a:latin typeface="Arial"/>
                <a:cs typeface="Arial"/>
              </a:rPr>
              <a:t>VISUALIZATION,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ts val="2745"/>
              </a:lnSpc>
              <a:tabLst>
                <a:tab pos="1963420" algn="l"/>
                <a:tab pos="2682875" algn="l"/>
                <a:tab pos="3816350" algn="l"/>
              </a:tabLst>
            </a:pPr>
            <a:r>
              <a:rPr sz="2400" spc="-165" dirty="0">
                <a:solidFill>
                  <a:srgbClr val="616E52"/>
                </a:solidFill>
                <a:latin typeface="Arial"/>
                <a:cs typeface="Arial"/>
              </a:rPr>
              <a:t>DASHBOARD,	</a:t>
            </a:r>
            <a:r>
              <a:rPr sz="2400" spc="-155" dirty="0">
                <a:solidFill>
                  <a:srgbClr val="616E52"/>
                </a:solidFill>
                <a:latin typeface="Arial"/>
                <a:cs typeface="Arial"/>
              </a:rPr>
              <a:t>AND	</a:t>
            </a:r>
            <a:r>
              <a:rPr sz="2400" spc="-140" dirty="0">
                <a:solidFill>
                  <a:srgbClr val="616E52"/>
                </a:solidFill>
                <a:latin typeface="Arial"/>
                <a:cs typeface="Arial"/>
              </a:rPr>
              <a:t>MODEL	</a:t>
            </a:r>
            <a:r>
              <a:rPr sz="2400" spc="-150" dirty="0">
                <a:solidFill>
                  <a:srgbClr val="616E52"/>
                </a:solidFill>
                <a:latin typeface="Arial"/>
                <a:cs typeface="Arial"/>
              </a:rPr>
              <a:t>METHODS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47115" y="860805"/>
            <a:ext cx="603123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40" dirty="0"/>
              <a:t>Data </a:t>
            </a:r>
            <a:r>
              <a:rPr spc="-235" dirty="0"/>
              <a:t>Collection</a:t>
            </a:r>
            <a:r>
              <a:rPr spc="-505" dirty="0"/>
              <a:t> </a:t>
            </a:r>
            <a:r>
              <a:rPr spc="-275" dirty="0"/>
              <a:t>Overview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948416" y="6568541"/>
            <a:ext cx="144780" cy="160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sz="1050" dirty="0">
                <a:solidFill>
                  <a:srgbClr val="FFFFFF"/>
                </a:solidFill>
                <a:latin typeface="Carlito"/>
                <a:cs typeface="Carlito"/>
              </a:rPr>
              <a:t>7</a:t>
            </a:fld>
            <a:endParaRPr sz="1050">
              <a:latin typeface="Carlito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76019" y="1824608"/>
            <a:ext cx="9899650" cy="3710304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 marR="42545">
              <a:lnSpc>
                <a:spcPts val="2210"/>
              </a:lnSpc>
              <a:spcBef>
                <a:spcPts val="335"/>
              </a:spcBef>
            </a:pP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Data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collection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process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involved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combination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API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requests from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Space X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public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API and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web  scraping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data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from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table in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Space </a:t>
            </a:r>
            <a:r>
              <a:rPr sz="2000" spc="-75" dirty="0">
                <a:solidFill>
                  <a:srgbClr val="404040"/>
                </a:solidFill>
                <a:latin typeface="Carlito"/>
                <a:cs typeface="Carlito"/>
              </a:rPr>
              <a:t>X’s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Wikipedia</a:t>
            </a:r>
            <a:r>
              <a:rPr sz="2000" spc="-10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45" dirty="0">
                <a:solidFill>
                  <a:srgbClr val="404040"/>
                </a:solidFill>
                <a:latin typeface="Carlito"/>
                <a:cs typeface="Carlito"/>
              </a:rPr>
              <a:t>entry.</a:t>
            </a:r>
            <a:endParaRPr sz="2000">
              <a:latin typeface="Carlito"/>
              <a:cs typeface="Carlito"/>
            </a:endParaRPr>
          </a:p>
          <a:p>
            <a:pPr marL="12700" marR="356235">
              <a:lnSpc>
                <a:spcPts val="2300"/>
              </a:lnSpc>
              <a:spcBef>
                <a:spcPts val="1115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next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slide will show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flowchart of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data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collection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from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API and the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one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after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will show 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flowchart of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data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collection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from</a:t>
            </a:r>
            <a:r>
              <a:rPr sz="2000" spc="-11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webscraping.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2000" u="heavy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Space X API </a:t>
            </a:r>
            <a:r>
              <a:rPr sz="2000" u="heavy" spc="-2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Data</a:t>
            </a:r>
            <a:r>
              <a:rPr sz="2000" u="heavy" spc="-9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 </a:t>
            </a:r>
            <a:r>
              <a:rPr sz="2000" u="heavy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Columns: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ts val="2300"/>
              </a:lnSpc>
              <a:spcBef>
                <a:spcPts val="1200"/>
              </a:spcBef>
            </a:pPr>
            <a:r>
              <a:rPr sz="2000" spc="-30" dirty="0">
                <a:solidFill>
                  <a:srgbClr val="404040"/>
                </a:solidFill>
                <a:latin typeface="Carlito"/>
                <a:cs typeface="Carlito"/>
              </a:rPr>
              <a:t>FlightNumber,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Date,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BoosterVersion,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PayloadMass,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Orbit, LaunchSite,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Outcome,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Flights,</a:t>
            </a:r>
            <a:r>
              <a:rPr sz="2000" spc="5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GridFins,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ts val="2300"/>
              </a:lnSpc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Reused, Legs,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LandingPad,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Block,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ReusedCount,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Serial, Longitude,</a:t>
            </a:r>
            <a:r>
              <a:rPr sz="2000" spc="-229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Latitude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1105"/>
              </a:spcBef>
            </a:pPr>
            <a:r>
              <a:rPr sz="2000" u="heavy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Wikipedia </a:t>
            </a:r>
            <a:r>
              <a:rPr sz="2000" u="heavy" spc="-2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Webscrape Data</a:t>
            </a:r>
            <a:r>
              <a:rPr sz="2000" u="heavy" spc="-12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 </a:t>
            </a:r>
            <a:r>
              <a:rPr sz="2000" u="heavy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Columns:</a:t>
            </a:r>
            <a:endParaRPr sz="2000">
              <a:latin typeface="Carlito"/>
              <a:cs typeface="Carlito"/>
            </a:endParaRPr>
          </a:p>
          <a:p>
            <a:pPr marL="12700" marR="837565">
              <a:lnSpc>
                <a:spcPts val="2200"/>
              </a:lnSpc>
              <a:spcBef>
                <a:spcPts val="1440"/>
              </a:spcBef>
            </a:pP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Flight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No.,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Launch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site,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Payload,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PayloadMass,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Orbit, </a:t>
            </a:r>
            <a:r>
              <a:rPr sz="2000" spc="-60" dirty="0">
                <a:solidFill>
                  <a:srgbClr val="404040"/>
                </a:solidFill>
                <a:latin typeface="Carlito"/>
                <a:cs typeface="Carlito"/>
              </a:rPr>
              <a:t>Customer,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Launch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outcome, </a:t>
            </a:r>
            <a:r>
              <a:rPr sz="2000" spc="-45" dirty="0">
                <a:solidFill>
                  <a:srgbClr val="404040"/>
                </a:solidFill>
                <a:latin typeface="Carlito"/>
                <a:cs typeface="Carlito"/>
              </a:rPr>
              <a:t>Version  </a:t>
            </a:r>
            <a:r>
              <a:rPr sz="2000" spc="-60" dirty="0">
                <a:solidFill>
                  <a:srgbClr val="404040"/>
                </a:solidFill>
                <a:latin typeface="Carlito"/>
                <a:cs typeface="Carlito"/>
              </a:rPr>
              <a:t>Booster,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Booster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landing,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Date,</a:t>
            </a:r>
            <a:r>
              <a:rPr sz="2000" spc="4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Time</a:t>
            </a:r>
            <a:endParaRPr sz="20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4104004" cy="6858000"/>
            <a:chOff x="0" y="0"/>
            <a:chExt cx="4104004" cy="6858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4050665" cy="6858000"/>
            </a:xfrm>
            <a:custGeom>
              <a:avLst/>
              <a:gdLst/>
              <a:ahLst/>
              <a:cxnLst/>
              <a:rect l="l" t="t" r="r" b="b"/>
              <a:pathLst>
                <a:path w="4050665" h="6858000">
                  <a:moveTo>
                    <a:pt x="405028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050284" y="6858000"/>
                  </a:lnTo>
                  <a:lnTo>
                    <a:pt x="4050284" y="0"/>
                  </a:lnTo>
                  <a:close/>
                </a:path>
              </a:pathLst>
            </a:custGeom>
            <a:solidFill>
              <a:srgbClr val="BB56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040123" y="0"/>
              <a:ext cx="64135" cy="6858000"/>
            </a:xfrm>
            <a:custGeom>
              <a:avLst/>
              <a:gdLst/>
              <a:ahLst/>
              <a:cxnLst/>
              <a:rect l="l" t="t" r="r" b="b"/>
              <a:pathLst>
                <a:path w="64135" h="6858000">
                  <a:moveTo>
                    <a:pt x="6388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63880" y="6858000"/>
                  </a:lnTo>
                  <a:lnTo>
                    <a:pt x="63880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535635" y="1760982"/>
            <a:ext cx="3016885" cy="1045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015"/>
              </a:lnSpc>
              <a:spcBef>
                <a:spcPts val="100"/>
              </a:spcBef>
            </a:pPr>
            <a:r>
              <a:rPr sz="3600" spc="-280" dirty="0">
                <a:solidFill>
                  <a:srgbClr val="FFFFFF"/>
                </a:solidFill>
                <a:latin typeface="Arial"/>
                <a:cs typeface="Arial"/>
              </a:rPr>
              <a:t>Data </a:t>
            </a:r>
            <a:r>
              <a:rPr sz="3600" spc="-185" dirty="0">
                <a:solidFill>
                  <a:srgbClr val="FFFFFF"/>
                </a:solidFill>
                <a:latin typeface="Arial"/>
                <a:cs typeface="Arial"/>
              </a:rPr>
              <a:t>Collection</a:t>
            </a:r>
            <a:r>
              <a:rPr sz="3600" spc="-5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600" spc="-210" dirty="0">
                <a:solidFill>
                  <a:srgbClr val="FFFFFF"/>
                </a:solidFill>
                <a:latin typeface="Arial"/>
                <a:cs typeface="Arial"/>
              </a:rPr>
              <a:t>–</a:t>
            </a:r>
            <a:endParaRPr sz="3600">
              <a:latin typeface="Arial"/>
              <a:cs typeface="Arial"/>
            </a:endParaRPr>
          </a:p>
          <a:p>
            <a:pPr marL="12700">
              <a:lnSpc>
                <a:spcPts val="4015"/>
              </a:lnSpc>
            </a:pPr>
            <a:r>
              <a:rPr sz="3600" spc="-425" dirty="0">
                <a:solidFill>
                  <a:srgbClr val="FFFFFF"/>
                </a:solidFill>
                <a:latin typeface="Arial"/>
                <a:cs typeface="Arial"/>
              </a:rPr>
              <a:t>SpaceX</a:t>
            </a:r>
            <a:r>
              <a:rPr sz="3600" spc="-385" dirty="0">
                <a:solidFill>
                  <a:srgbClr val="FFFFFF"/>
                </a:solidFill>
                <a:latin typeface="Arial"/>
                <a:cs typeface="Arial"/>
              </a:rPr>
              <a:t> API</a:t>
            </a:r>
            <a:endParaRPr sz="36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062728" y="1754123"/>
            <a:ext cx="237744" cy="13898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4782311" y="1478280"/>
            <a:ext cx="1851660" cy="1607820"/>
            <a:chOff x="4782311" y="1478280"/>
            <a:chExt cx="1851660" cy="1607820"/>
          </a:xfrm>
        </p:grpSpPr>
        <p:sp>
          <p:nvSpPr>
            <p:cNvPr id="8" name="object 8"/>
            <p:cNvSpPr/>
            <p:nvPr/>
          </p:nvSpPr>
          <p:spPr>
            <a:xfrm>
              <a:off x="5084063" y="1766316"/>
              <a:ext cx="158496" cy="131978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782311" y="1478280"/>
              <a:ext cx="1851660" cy="11430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888991" y="1719072"/>
              <a:ext cx="1677923" cy="696467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803647" y="1499616"/>
              <a:ext cx="1772411" cy="106375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015865" y="1766061"/>
            <a:ext cx="1327150" cy="462915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479425" marR="5080" indent="-466725">
              <a:lnSpc>
                <a:spcPts val="1639"/>
              </a:lnSpc>
              <a:spcBef>
                <a:spcPts val="285"/>
              </a:spcBef>
            </a:pPr>
            <a:r>
              <a:rPr sz="1500" spc="-5" dirty="0">
                <a:solidFill>
                  <a:srgbClr val="FFFFFF"/>
                </a:solidFill>
                <a:latin typeface="Carlito"/>
                <a:cs typeface="Carlito"/>
              </a:rPr>
              <a:t>Request </a:t>
            </a:r>
            <a:r>
              <a:rPr sz="1500" spc="-10" dirty="0">
                <a:solidFill>
                  <a:srgbClr val="FFFFFF"/>
                </a:solidFill>
                <a:latin typeface="Carlito"/>
                <a:cs typeface="Carlito"/>
              </a:rPr>
              <a:t>(Space</a:t>
            </a:r>
            <a:r>
              <a:rPr sz="1500" spc="-24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500" dirty="0">
                <a:solidFill>
                  <a:srgbClr val="FFFFFF"/>
                </a:solidFill>
                <a:latin typeface="Carlito"/>
                <a:cs typeface="Carlito"/>
              </a:rPr>
              <a:t>X  APIs)</a:t>
            </a:r>
            <a:endParaRPr sz="1500">
              <a:latin typeface="Carlito"/>
              <a:cs typeface="Carlito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782311" y="2807207"/>
            <a:ext cx="1851660" cy="1666239"/>
            <a:chOff x="4782311" y="2807207"/>
            <a:chExt cx="1851660" cy="1666239"/>
          </a:xfrm>
        </p:grpSpPr>
        <p:sp>
          <p:nvSpPr>
            <p:cNvPr id="14" name="object 14"/>
            <p:cNvSpPr/>
            <p:nvPr/>
          </p:nvSpPr>
          <p:spPr>
            <a:xfrm>
              <a:off x="5062727" y="3073907"/>
              <a:ext cx="237744" cy="1399032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084063" y="3095243"/>
              <a:ext cx="158496" cy="131978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782311" y="2807207"/>
              <a:ext cx="1851660" cy="11430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888991" y="2839211"/>
              <a:ext cx="1677923" cy="1115568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803647" y="2828543"/>
              <a:ext cx="1772411" cy="106375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5015865" y="2886583"/>
            <a:ext cx="1332865" cy="882015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12700" marR="5080" indent="4445" algn="ctr">
              <a:lnSpc>
                <a:spcPct val="91600"/>
              </a:lnSpc>
              <a:spcBef>
                <a:spcPts val="250"/>
              </a:spcBef>
            </a:pPr>
            <a:r>
              <a:rPr sz="1500" dirty="0">
                <a:solidFill>
                  <a:srgbClr val="FFFFFF"/>
                </a:solidFill>
                <a:latin typeface="Carlito"/>
                <a:cs typeface="Carlito"/>
              </a:rPr>
              <a:t>.JSON </a:t>
            </a:r>
            <a:r>
              <a:rPr sz="1500" spc="-5" dirty="0">
                <a:solidFill>
                  <a:srgbClr val="FFFFFF"/>
                </a:solidFill>
                <a:latin typeface="Carlito"/>
                <a:cs typeface="Carlito"/>
              </a:rPr>
              <a:t>file </a:t>
            </a:r>
            <a:r>
              <a:rPr sz="1500" dirty="0">
                <a:solidFill>
                  <a:srgbClr val="FFFFFF"/>
                </a:solidFill>
                <a:latin typeface="Carlito"/>
                <a:cs typeface="Carlito"/>
              </a:rPr>
              <a:t>+  </a:t>
            </a:r>
            <a:r>
              <a:rPr sz="1500" spc="-10" dirty="0">
                <a:solidFill>
                  <a:srgbClr val="FFFFFF"/>
                </a:solidFill>
                <a:latin typeface="Carlito"/>
                <a:cs typeface="Carlito"/>
              </a:rPr>
              <a:t>Lists(Launch</a:t>
            </a:r>
            <a:r>
              <a:rPr sz="1500" spc="-12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rlito"/>
                <a:cs typeface="Carlito"/>
              </a:rPr>
              <a:t>Site,  </a:t>
            </a:r>
            <a:r>
              <a:rPr sz="1500" spc="-5" dirty="0">
                <a:solidFill>
                  <a:srgbClr val="FFFFFF"/>
                </a:solidFill>
                <a:latin typeface="Carlito"/>
                <a:cs typeface="Carlito"/>
              </a:rPr>
              <a:t>Booster </a:t>
            </a:r>
            <a:r>
              <a:rPr sz="1500" spc="-25" dirty="0">
                <a:solidFill>
                  <a:srgbClr val="FFFFFF"/>
                </a:solidFill>
                <a:latin typeface="Carlito"/>
                <a:cs typeface="Carlito"/>
              </a:rPr>
              <a:t>Version,  </a:t>
            </a:r>
            <a:r>
              <a:rPr sz="1500" spc="-20" dirty="0">
                <a:solidFill>
                  <a:srgbClr val="FFFFFF"/>
                </a:solidFill>
                <a:latin typeface="Carlito"/>
                <a:cs typeface="Carlito"/>
              </a:rPr>
              <a:t>Payload</a:t>
            </a:r>
            <a:r>
              <a:rPr sz="1500" spc="-7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Carlito"/>
                <a:cs typeface="Carlito"/>
              </a:rPr>
              <a:t>Data)</a:t>
            </a:r>
            <a:endParaRPr sz="1500">
              <a:latin typeface="Carlito"/>
              <a:cs typeface="Carlito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782311" y="4137659"/>
            <a:ext cx="2790825" cy="1141730"/>
            <a:chOff x="4782311" y="4137659"/>
            <a:chExt cx="2790825" cy="1141730"/>
          </a:xfrm>
        </p:grpSpPr>
        <p:sp>
          <p:nvSpPr>
            <p:cNvPr id="21" name="object 21"/>
            <p:cNvSpPr/>
            <p:nvPr/>
          </p:nvSpPr>
          <p:spPr>
            <a:xfrm>
              <a:off x="5146547" y="4319015"/>
              <a:ext cx="2426207" cy="239268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167883" y="4340351"/>
              <a:ext cx="2346960" cy="160019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782311" y="4137659"/>
              <a:ext cx="1851660" cy="1141476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850891" y="4273295"/>
              <a:ext cx="1755648" cy="905256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803647" y="4158995"/>
              <a:ext cx="1772411" cy="1062227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4977765" y="4320920"/>
            <a:ext cx="1403985" cy="664845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 marR="5080" algn="ctr">
              <a:lnSpc>
                <a:spcPct val="89800"/>
              </a:lnSpc>
              <a:spcBef>
                <a:spcPts val="280"/>
              </a:spcBef>
            </a:pPr>
            <a:r>
              <a:rPr sz="1500" spc="-10" dirty="0">
                <a:solidFill>
                  <a:srgbClr val="FFFFFF"/>
                </a:solidFill>
                <a:latin typeface="Carlito"/>
                <a:cs typeface="Carlito"/>
              </a:rPr>
              <a:t>Json_normalize</a:t>
            </a:r>
            <a:r>
              <a:rPr sz="1500" spc="-17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Carlito"/>
                <a:cs typeface="Carlito"/>
              </a:rPr>
              <a:t>to  </a:t>
            </a:r>
            <a:r>
              <a:rPr sz="1500" spc="-20" dirty="0">
                <a:solidFill>
                  <a:srgbClr val="FFFFFF"/>
                </a:solidFill>
                <a:latin typeface="Carlito"/>
                <a:cs typeface="Carlito"/>
              </a:rPr>
              <a:t>DataFrame data  from</a:t>
            </a:r>
            <a:r>
              <a:rPr sz="1500" spc="-4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500" dirty="0">
                <a:solidFill>
                  <a:srgbClr val="FFFFFF"/>
                </a:solidFill>
                <a:latin typeface="Carlito"/>
                <a:cs typeface="Carlito"/>
              </a:rPr>
              <a:t>JSON</a:t>
            </a:r>
            <a:endParaRPr sz="1500">
              <a:latin typeface="Carlito"/>
              <a:cs typeface="Carlito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7139940" y="3073907"/>
            <a:ext cx="1859280" cy="2205355"/>
            <a:chOff x="7139940" y="3073907"/>
            <a:chExt cx="1859280" cy="2205355"/>
          </a:xfrm>
        </p:grpSpPr>
        <p:sp>
          <p:nvSpPr>
            <p:cNvPr id="28" name="object 28"/>
            <p:cNvSpPr/>
            <p:nvPr/>
          </p:nvSpPr>
          <p:spPr>
            <a:xfrm>
              <a:off x="7418832" y="3073907"/>
              <a:ext cx="239268" cy="1399032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440168" y="3095243"/>
              <a:ext cx="160020" cy="1319784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139940" y="4137659"/>
              <a:ext cx="1851659" cy="1141476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173468" y="4378451"/>
              <a:ext cx="1825752" cy="694944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161276" y="4158995"/>
              <a:ext cx="1772412" cy="1062227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7300721" y="4425442"/>
            <a:ext cx="1483995" cy="462915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575945" marR="5080" indent="-563880">
              <a:lnSpc>
                <a:spcPts val="1639"/>
              </a:lnSpc>
              <a:spcBef>
                <a:spcPts val="285"/>
              </a:spcBef>
            </a:pPr>
            <a:r>
              <a:rPr sz="1500" dirty="0">
                <a:solidFill>
                  <a:srgbClr val="FFFFFF"/>
                </a:solidFill>
                <a:latin typeface="Carlito"/>
                <a:cs typeface="Carlito"/>
              </a:rPr>
              <a:t>Dictionary</a:t>
            </a:r>
            <a:r>
              <a:rPr sz="1500" spc="-9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Carlito"/>
                <a:cs typeface="Carlito"/>
              </a:rPr>
              <a:t>relevant  </a:t>
            </a:r>
            <a:r>
              <a:rPr sz="1500" spc="-20" dirty="0">
                <a:solidFill>
                  <a:srgbClr val="FFFFFF"/>
                </a:solidFill>
                <a:latin typeface="Carlito"/>
                <a:cs typeface="Carlito"/>
              </a:rPr>
              <a:t>data</a:t>
            </a:r>
            <a:endParaRPr sz="1500">
              <a:latin typeface="Carlito"/>
              <a:cs typeface="Carlito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7139940" y="1744979"/>
            <a:ext cx="1868805" cy="2205355"/>
            <a:chOff x="7139940" y="1744979"/>
            <a:chExt cx="1868805" cy="2205355"/>
          </a:xfrm>
        </p:grpSpPr>
        <p:sp>
          <p:nvSpPr>
            <p:cNvPr id="35" name="object 35"/>
            <p:cNvSpPr/>
            <p:nvPr/>
          </p:nvSpPr>
          <p:spPr>
            <a:xfrm>
              <a:off x="7418832" y="1744979"/>
              <a:ext cx="239268" cy="1399032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7440168" y="1766315"/>
              <a:ext cx="160020" cy="1319784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139940" y="2807207"/>
              <a:ext cx="1851659" cy="11430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7164324" y="3047999"/>
              <a:ext cx="1844039" cy="696468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7161276" y="2828543"/>
              <a:ext cx="1772412" cy="106375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7291578" y="3096005"/>
            <a:ext cx="1492885" cy="462915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332740" marR="5080" indent="-320040">
              <a:lnSpc>
                <a:spcPts val="1639"/>
              </a:lnSpc>
              <a:spcBef>
                <a:spcPts val="285"/>
              </a:spcBef>
            </a:pPr>
            <a:r>
              <a:rPr sz="1500" spc="-5" dirty="0">
                <a:solidFill>
                  <a:srgbClr val="FFFFFF"/>
                </a:solidFill>
                <a:latin typeface="Carlito"/>
                <a:cs typeface="Carlito"/>
              </a:rPr>
              <a:t>Cast </a:t>
            </a:r>
            <a:r>
              <a:rPr sz="1500" dirty="0">
                <a:solidFill>
                  <a:srgbClr val="FFFFFF"/>
                </a:solidFill>
                <a:latin typeface="Carlito"/>
                <a:cs typeface="Carlito"/>
              </a:rPr>
              <a:t>dictionary</a:t>
            </a:r>
            <a:r>
              <a:rPr sz="1500" spc="-25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Carlito"/>
                <a:cs typeface="Carlito"/>
              </a:rPr>
              <a:t>to </a:t>
            </a:r>
            <a:r>
              <a:rPr sz="1500" dirty="0">
                <a:solidFill>
                  <a:srgbClr val="FFFFFF"/>
                </a:solidFill>
                <a:latin typeface="Carlito"/>
                <a:cs typeface="Carlito"/>
              </a:rPr>
              <a:t>a  </a:t>
            </a:r>
            <a:r>
              <a:rPr sz="1500" spc="-20" dirty="0">
                <a:solidFill>
                  <a:srgbClr val="FFFFFF"/>
                </a:solidFill>
                <a:latin typeface="Carlito"/>
                <a:cs typeface="Carlito"/>
              </a:rPr>
              <a:t>DataFrame</a:t>
            </a:r>
            <a:endParaRPr sz="1500">
              <a:latin typeface="Carlito"/>
              <a:cs typeface="Carlito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7139940" y="1478280"/>
            <a:ext cx="2790825" cy="1143000"/>
            <a:chOff x="7139940" y="1478280"/>
            <a:chExt cx="2790825" cy="1143000"/>
          </a:xfrm>
        </p:grpSpPr>
        <p:sp>
          <p:nvSpPr>
            <p:cNvPr id="42" name="object 42"/>
            <p:cNvSpPr/>
            <p:nvPr/>
          </p:nvSpPr>
          <p:spPr>
            <a:xfrm>
              <a:off x="7504176" y="1661160"/>
              <a:ext cx="2426207" cy="237744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7525512" y="1682496"/>
              <a:ext cx="2346959" cy="158496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7139940" y="1478280"/>
              <a:ext cx="1851659" cy="11430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7226808" y="1615440"/>
              <a:ext cx="1717548" cy="903731"/>
            </a:xfrm>
            <a:prstGeom prst="rect">
              <a:avLst/>
            </a:prstGeom>
            <a:blipFill>
              <a:blip r:embed="rId2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7161276" y="1499616"/>
              <a:ext cx="1772412" cy="106375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>
            <a:spLocks noGrp="1"/>
          </p:cNvSpPr>
          <p:nvPr>
            <p:ph type="title"/>
          </p:nvPr>
        </p:nvSpPr>
        <p:spPr>
          <a:xfrm>
            <a:off x="7354061" y="1660905"/>
            <a:ext cx="1373505" cy="67310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 marR="5080" algn="ctr">
              <a:lnSpc>
                <a:spcPts val="1650"/>
              </a:lnSpc>
              <a:spcBef>
                <a:spcPts val="280"/>
              </a:spcBef>
            </a:pPr>
            <a:r>
              <a:rPr sz="1500" spc="-5" dirty="0">
                <a:solidFill>
                  <a:srgbClr val="FFFFFF"/>
                </a:solidFill>
                <a:latin typeface="Carlito"/>
                <a:cs typeface="Carlito"/>
              </a:rPr>
              <a:t>Filter </a:t>
            </a:r>
            <a:r>
              <a:rPr sz="1500" spc="-10" dirty="0">
                <a:solidFill>
                  <a:srgbClr val="FFFFFF"/>
                </a:solidFill>
                <a:latin typeface="Carlito"/>
                <a:cs typeface="Carlito"/>
              </a:rPr>
              <a:t>data to</a:t>
            </a:r>
            <a:r>
              <a:rPr sz="1500" spc="-204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Carlito"/>
                <a:cs typeface="Carlito"/>
              </a:rPr>
              <a:t>only  </a:t>
            </a:r>
            <a:r>
              <a:rPr sz="1500" dirty="0">
                <a:solidFill>
                  <a:srgbClr val="FFFFFF"/>
                </a:solidFill>
                <a:latin typeface="Carlito"/>
                <a:cs typeface="Carlito"/>
              </a:rPr>
              <a:t>include </a:t>
            </a:r>
            <a:r>
              <a:rPr sz="1500" spc="-20" dirty="0">
                <a:solidFill>
                  <a:srgbClr val="FFFFFF"/>
                </a:solidFill>
                <a:latin typeface="Carlito"/>
                <a:cs typeface="Carlito"/>
              </a:rPr>
              <a:t>Falcon </a:t>
            </a:r>
            <a:r>
              <a:rPr sz="1500" dirty="0">
                <a:solidFill>
                  <a:srgbClr val="FFFFFF"/>
                </a:solidFill>
                <a:latin typeface="Carlito"/>
                <a:cs typeface="Carlito"/>
              </a:rPr>
              <a:t>9  launches</a:t>
            </a:r>
            <a:endParaRPr sz="1500">
              <a:latin typeface="Carlito"/>
              <a:cs typeface="Carlito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9496043" y="1478280"/>
            <a:ext cx="1894839" cy="1143000"/>
            <a:chOff x="9496043" y="1478280"/>
            <a:chExt cx="1894839" cy="1143000"/>
          </a:xfrm>
        </p:grpSpPr>
        <p:sp>
          <p:nvSpPr>
            <p:cNvPr id="49" name="object 49"/>
            <p:cNvSpPr/>
            <p:nvPr/>
          </p:nvSpPr>
          <p:spPr>
            <a:xfrm>
              <a:off x="9496043" y="1478280"/>
              <a:ext cx="1851659" cy="11430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9497567" y="1615440"/>
              <a:ext cx="1892807" cy="903731"/>
            </a:xfrm>
            <a:prstGeom prst="rect">
              <a:avLst/>
            </a:prstGeom>
            <a:blipFill>
              <a:blip r:embed="rId2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9517379" y="1499616"/>
              <a:ext cx="1772412" cy="1063752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9640316" y="1660905"/>
            <a:ext cx="1539240" cy="67056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 marR="5080" indent="-1270" algn="ctr">
              <a:lnSpc>
                <a:spcPct val="91000"/>
              </a:lnSpc>
              <a:spcBef>
                <a:spcPts val="260"/>
              </a:spcBef>
            </a:pPr>
            <a:r>
              <a:rPr sz="1500" spc="-20" dirty="0">
                <a:solidFill>
                  <a:srgbClr val="FFFFFF"/>
                </a:solidFill>
                <a:latin typeface="Carlito"/>
                <a:cs typeface="Carlito"/>
              </a:rPr>
              <a:t>Imputate </a:t>
            </a:r>
            <a:r>
              <a:rPr sz="1500" spc="-5" dirty="0">
                <a:solidFill>
                  <a:srgbClr val="FFFFFF"/>
                </a:solidFill>
                <a:latin typeface="Carlito"/>
                <a:cs typeface="Carlito"/>
              </a:rPr>
              <a:t>missing  </a:t>
            </a:r>
            <a:r>
              <a:rPr sz="1500" spc="-20" dirty="0">
                <a:solidFill>
                  <a:srgbClr val="FFFFFF"/>
                </a:solidFill>
                <a:latin typeface="Carlito"/>
                <a:cs typeface="Carlito"/>
              </a:rPr>
              <a:t>PayloadMass</a:t>
            </a:r>
            <a:r>
              <a:rPr sz="1500" spc="-16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Carlito"/>
                <a:cs typeface="Carlito"/>
              </a:rPr>
              <a:t>values  with</a:t>
            </a:r>
            <a:r>
              <a:rPr sz="1500" spc="-3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500" dirty="0">
                <a:solidFill>
                  <a:srgbClr val="FFFFFF"/>
                </a:solidFill>
                <a:latin typeface="Carlito"/>
                <a:cs typeface="Carlito"/>
              </a:rPr>
              <a:t>mean</a:t>
            </a:r>
            <a:endParaRPr sz="1500">
              <a:latin typeface="Carlito"/>
              <a:cs typeface="Carlito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535635" y="4830826"/>
            <a:ext cx="86550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u="sng" spc="-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rlito"/>
                <a:cs typeface="Carlito"/>
              </a:rPr>
              <a:t>GitHub</a:t>
            </a:r>
            <a:r>
              <a:rPr sz="1500" u="sng" spc="-15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rlito"/>
                <a:cs typeface="Carlito"/>
              </a:rPr>
              <a:t> </a:t>
            </a:r>
            <a:r>
              <a:rPr sz="15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rlito"/>
                <a:cs typeface="Carlito"/>
              </a:rPr>
              <a:t>url:</a:t>
            </a:r>
            <a:endParaRPr sz="1500">
              <a:latin typeface="Carlito"/>
              <a:cs typeface="Carlito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535635" y="5215508"/>
            <a:ext cx="2988945" cy="1271117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5080">
              <a:lnSpc>
                <a:spcPct val="88900"/>
              </a:lnSpc>
              <a:spcBef>
                <a:spcPts val="300"/>
              </a:spcBef>
            </a:pPr>
            <a:r>
              <a:rPr lang="en-IN" sz="1500" u="sng" spc="-10" dirty="0">
                <a:solidFill>
                  <a:schemeClr val="bg1"/>
                </a:solidFill>
                <a:uFill>
                  <a:solidFill>
                    <a:srgbClr val="2996E1"/>
                  </a:solidFill>
                </a:uFill>
                <a:latin typeface="Carlito"/>
                <a:cs typeface="Carlito"/>
                <a:hlinkClick r:id="rId23"/>
              </a:rPr>
              <a:t>https://github.com/navassherif98/IBM_Data_Science_Professional_Certification/blob/master/10.Applied_Data_Science_Capstone/Week%201%20Introduction/Data%20Collection%20Api%20.ipynb</a:t>
            </a:r>
            <a:endParaRPr sz="1500" dirty="0">
              <a:solidFill>
                <a:schemeClr val="bg1"/>
              </a:solidFill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4104004" cy="6858000"/>
            <a:chOff x="0" y="0"/>
            <a:chExt cx="4104004" cy="6858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4050665" cy="6858000"/>
            </a:xfrm>
            <a:custGeom>
              <a:avLst/>
              <a:gdLst/>
              <a:ahLst/>
              <a:cxnLst/>
              <a:rect l="l" t="t" r="r" b="b"/>
              <a:pathLst>
                <a:path w="4050665" h="6858000">
                  <a:moveTo>
                    <a:pt x="405028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050284" y="6858000"/>
                  </a:lnTo>
                  <a:lnTo>
                    <a:pt x="4050284" y="0"/>
                  </a:lnTo>
                  <a:close/>
                </a:path>
              </a:pathLst>
            </a:custGeom>
            <a:solidFill>
              <a:srgbClr val="BB562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" name="object 4"/>
            <p:cNvSpPr/>
            <p:nvPr/>
          </p:nvSpPr>
          <p:spPr>
            <a:xfrm>
              <a:off x="4040123" y="0"/>
              <a:ext cx="64135" cy="6858000"/>
            </a:xfrm>
            <a:custGeom>
              <a:avLst/>
              <a:gdLst/>
              <a:ahLst/>
              <a:cxnLst/>
              <a:rect l="l" t="t" r="r" b="b"/>
              <a:pathLst>
                <a:path w="64135" h="6858000">
                  <a:moveTo>
                    <a:pt x="6388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63880" y="6858000"/>
                  </a:lnTo>
                  <a:lnTo>
                    <a:pt x="63880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535635" y="1760982"/>
            <a:ext cx="3016885" cy="1045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015"/>
              </a:lnSpc>
              <a:spcBef>
                <a:spcPts val="100"/>
              </a:spcBef>
            </a:pPr>
            <a:r>
              <a:rPr sz="3600" spc="-280" dirty="0">
                <a:solidFill>
                  <a:srgbClr val="FFFFFF"/>
                </a:solidFill>
                <a:latin typeface="Arial"/>
                <a:cs typeface="Arial"/>
              </a:rPr>
              <a:t>Data </a:t>
            </a:r>
            <a:r>
              <a:rPr sz="3600" spc="-185" dirty="0">
                <a:solidFill>
                  <a:srgbClr val="FFFFFF"/>
                </a:solidFill>
                <a:latin typeface="Arial"/>
                <a:cs typeface="Arial"/>
              </a:rPr>
              <a:t>Collection</a:t>
            </a:r>
            <a:r>
              <a:rPr sz="3600" spc="-5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600" spc="-210" dirty="0">
                <a:solidFill>
                  <a:srgbClr val="FFFFFF"/>
                </a:solidFill>
                <a:latin typeface="Arial"/>
                <a:cs typeface="Arial"/>
              </a:rPr>
              <a:t>–</a:t>
            </a:r>
            <a:endParaRPr sz="3600">
              <a:latin typeface="Arial"/>
              <a:cs typeface="Arial"/>
            </a:endParaRPr>
          </a:p>
          <a:p>
            <a:pPr marL="12700">
              <a:lnSpc>
                <a:spcPts val="4015"/>
              </a:lnSpc>
            </a:pPr>
            <a:r>
              <a:rPr sz="3600" spc="-300" dirty="0">
                <a:solidFill>
                  <a:srgbClr val="FFFFFF"/>
                </a:solidFill>
                <a:latin typeface="Arial"/>
                <a:cs typeface="Arial"/>
              </a:rPr>
              <a:t>Web</a:t>
            </a:r>
            <a:r>
              <a:rPr sz="3600" spc="-3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600" spc="-300" dirty="0">
                <a:solidFill>
                  <a:srgbClr val="FFFFFF"/>
                </a:solidFill>
                <a:latin typeface="Arial"/>
                <a:cs typeface="Arial"/>
              </a:rPr>
              <a:t>Scraping</a:t>
            </a:r>
            <a:endParaRPr sz="36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111496" y="713231"/>
            <a:ext cx="2621280" cy="2318385"/>
            <a:chOff x="5111496" y="713231"/>
            <a:chExt cx="2621280" cy="2318385"/>
          </a:xfrm>
        </p:grpSpPr>
        <p:sp>
          <p:nvSpPr>
            <p:cNvPr id="7" name="object 7"/>
            <p:cNvSpPr/>
            <p:nvPr/>
          </p:nvSpPr>
          <p:spPr>
            <a:xfrm>
              <a:off x="5506212" y="1098804"/>
              <a:ext cx="304800" cy="193243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527548" y="1110995"/>
              <a:ext cx="225551" cy="1862327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111496" y="713231"/>
              <a:ext cx="2580131" cy="158038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134356" y="1037843"/>
              <a:ext cx="2598420" cy="98145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132832" y="734567"/>
              <a:ext cx="2500884" cy="150113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314569" y="1104137"/>
            <a:ext cx="2121535" cy="665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2520"/>
              </a:lnSpc>
              <a:spcBef>
                <a:spcPts val="95"/>
              </a:spcBef>
            </a:pPr>
            <a:r>
              <a:rPr sz="2200" spc="-25" dirty="0">
                <a:solidFill>
                  <a:srgbClr val="FFFFFF"/>
                </a:solidFill>
                <a:latin typeface="Carlito"/>
                <a:cs typeface="Carlito"/>
              </a:rPr>
              <a:t>Request</a:t>
            </a:r>
            <a:r>
              <a:rPr sz="2200" spc="-114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Carlito"/>
                <a:cs typeface="Carlito"/>
              </a:rPr>
              <a:t>Wikipedia</a:t>
            </a:r>
            <a:endParaRPr sz="2200">
              <a:latin typeface="Carlito"/>
              <a:cs typeface="Carlito"/>
            </a:endParaRPr>
          </a:p>
          <a:p>
            <a:pPr marL="13335" algn="ctr">
              <a:lnSpc>
                <a:spcPts val="2520"/>
              </a:lnSpc>
            </a:pPr>
            <a:r>
              <a:rPr sz="2200" spc="-25" dirty="0">
                <a:solidFill>
                  <a:srgbClr val="FFFFFF"/>
                </a:solidFill>
                <a:latin typeface="Carlito"/>
                <a:cs typeface="Carlito"/>
              </a:rPr>
              <a:t>html</a:t>
            </a:r>
            <a:endParaRPr sz="2200">
              <a:latin typeface="Carlito"/>
              <a:cs typeface="Carlito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111496" y="2589276"/>
            <a:ext cx="2580640" cy="2318385"/>
            <a:chOff x="5111496" y="2589276"/>
            <a:chExt cx="2580640" cy="2318385"/>
          </a:xfrm>
        </p:grpSpPr>
        <p:sp>
          <p:nvSpPr>
            <p:cNvPr id="14" name="object 14"/>
            <p:cNvSpPr/>
            <p:nvPr/>
          </p:nvSpPr>
          <p:spPr>
            <a:xfrm>
              <a:off x="5506212" y="2965704"/>
              <a:ext cx="304800" cy="194157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527548" y="2987040"/>
              <a:ext cx="225551" cy="1862327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111496" y="2589276"/>
              <a:ext cx="2580131" cy="158038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334000" y="2913888"/>
              <a:ext cx="2135124" cy="981456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132832" y="2610612"/>
              <a:ext cx="2500884" cy="150113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5514594" y="2980689"/>
            <a:ext cx="1709420" cy="665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3025">
              <a:lnSpc>
                <a:spcPts val="2520"/>
              </a:lnSpc>
              <a:spcBef>
                <a:spcPts val="95"/>
              </a:spcBef>
            </a:pPr>
            <a:r>
              <a:rPr sz="2200" spc="-15" dirty="0">
                <a:solidFill>
                  <a:srgbClr val="FFFFFF"/>
                </a:solidFill>
                <a:latin typeface="Carlito"/>
                <a:cs typeface="Carlito"/>
              </a:rPr>
              <a:t>BeautifulSoup</a:t>
            </a:r>
            <a:endParaRPr sz="2200">
              <a:latin typeface="Carlito"/>
              <a:cs typeface="Carlito"/>
            </a:endParaRPr>
          </a:p>
          <a:p>
            <a:pPr marL="12700">
              <a:lnSpc>
                <a:spcPts val="2520"/>
              </a:lnSpc>
            </a:pPr>
            <a:r>
              <a:rPr sz="2200" spc="-20" dirty="0">
                <a:solidFill>
                  <a:srgbClr val="FFFFFF"/>
                </a:solidFill>
                <a:latin typeface="Carlito"/>
                <a:cs typeface="Carlito"/>
              </a:rPr>
              <a:t>html5lib</a:t>
            </a:r>
            <a:r>
              <a:rPr sz="2200" spc="-10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200" spc="-35" dirty="0">
                <a:solidFill>
                  <a:srgbClr val="FFFFFF"/>
                </a:solidFill>
                <a:latin typeface="Carlito"/>
                <a:cs typeface="Carlito"/>
              </a:rPr>
              <a:t>Parser</a:t>
            </a:r>
            <a:endParaRPr sz="2200">
              <a:latin typeface="Carlito"/>
              <a:cs typeface="Carlito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111496" y="4465320"/>
            <a:ext cx="3906520" cy="1580515"/>
            <a:chOff x="5111496" y="4465320"/>
            <a:chExt cx="3906520" cy="1580515"/>
          </a:xfrm>
        </p:grpSpPr>
        <p:sp>
          <p:nvSpPr>
            <p:cNvPr id="21" name="object 21"/>
            <p:cNvSpPr/>
            <p:nvPr/>
          </p:nvSpPr>
          <p:spPr>
            <a:xfrm>
              <a:off x="5625084" y="4721352"/>
              <a:ext cx="3392423" cy="304800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646420" y="4742688"/>
              <a:ext cx="3313176" cy="225551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111496" y="4465320"/>
              <a:ext cx="2580131" cy="158038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289804" y="4789932"/>
              <a:ext cx="2287524" cy="981456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132832" y="4486656"/>
              <a:ext cx="2500884" cy="150114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5470016" y="4854321"/>
            <a:ext cx="1802130" cy="668655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334010" marR="5080" indent="-321945">
              <a:lnSpc>
                <a:spcPts val="2430"/>
              </a:lnSpc>
              <a:spcBef>
                <a:spcPts val="350"/>
              </a:spcBef>
            </a:pPr>
            <a:r>
              <a:rPr sz="2200" spc="-15" dirty="0">
                <a:solidFill>
                  <a:srgbClr val="FFFFFF"/>
                </a:solidFill>
                <a:latin typeface="Carlito"/>
                <a:cs typeface="Carlito"/>
              </a:rPr>
              <a:t>Find </a:t>
            </a:r>
            <a:r>
              <a:rPr sz="2200" spc="-5" dirty="0">
                <a:solidFill>
                  <a:srgbClr val="FFFFFF"/>
                </a:solidFill>
                <a:latin typeface="Carlito"/>
                <a:cs typeface="Carlito"/>
              </a:rPr>
              <a:t>launch</a:t>
            </a:r>
            <a:r>
              <a:rPr sz="2200" spc="-14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200" spc="-40" dirty="0">
                <a:solidFill>
                  <a:srgbClr val="FFFFFF"/>
                </a:solidFill>
                <a:latin typeface="Carlito"/>
                <a:cs typeface="Carlito"/>
              </a:rPr>
              <a:t>info  </a:t>
            </a:r>
            <a:r>
              <a:rPr sz="2200" spc="-25" dirty="0">
                <a:solidFill>
                  <a:srgbClr val="FFFFFF"/>
                </a:solidFill>
                <a:latin typeface="Carlito"/>
                <a:cs typeface="Carlito"/>
              </a:rPr>
              <a:t>html</a:t>
            </a:r>
            <a:r>
              <a:rPr sz="2200" spc="-7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Carlito"/>
                <a:cs typeface="Carlito"/>
              </a:rPr>
              <a:t>table</a:t>
            </a:r>
            <a:endParaRPr sz="2200">
              <a:latin typeface="Carlito"/>
              <a:cs typeface="Carlito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8438388" y="2965704"/>
            <a:ext cx="2580640" cy="3080385"/>
            <a:chOff x="8438388" y="2965704"/>
            <a:chExt cx="2580640" cy="3080385"/>
          </a:xfrm>
        </p:grpSpPr>
        <p:sp>
          <p:nvSpPr>
            <p:cNvPr id="28" name="object 28"/>
            <p:cNvSpPr/>
            <p:nvPr/>
          </p:nvSpPr>
          <p:spPr>
            <a:xfrm>
              <a:off x="8833104" y="2965704"/>
              <a:ext cx="304800" cy="1941576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854440" y="2987040"/>
              <a:ext cx="225551" cy="1862327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438388" y="4465320"/>
              <a:ext cx="2580131" cy="158038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8546592" y="4943855"/>
              <a:ext cx="2363724" cy="673607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8459724" y="4486656"/>
              <a:ext cx="2500883" cy="150114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8727440" y="5007990"/>
            <a:ext cx="194373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40" dirty="0">
                <a:solidFill>
                  <a:srgbClr val="FFFFFF"/>
                </a:solidFill>
                <a:latin typeface="Carlito"/>
                <a:cs typeface="Carlito"/>
              </a:rPr>
              <a:t>Create</a:t>
            </a:r>
            <a:r>
              <a:rPr sz="2200" spc="-7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Carlito"/>
                <a:cs typeface="Carlito"/>
              </a:rPr>
              <a:t>dictionary</a:t>
            </a:r>
            <a:endParaRPr sz="2200">
              <a:latin typeface="Carlito"/>
              <a:cs typeface="Carlito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8438388" y="1089660"/>
            <a:ext cx="2580640" cy="3112135"/>
            <a:chOff x="8438388" y="1089660"/>
            <a:chExt cx="2580640" cy="3112135"/>
          </a:xfrm>
        </p:grpSpPr>
        <p:sp>
          <p:nvSpPr>
            <p:cNvPr id="35" name="object 35"/>
            <p:cNvSpPr/>
            <p:nvPr/>
          </p:nvSpPr>
          <p:spPr>
            <a:xfrm>
              <a:off x="8833104" y="1089660"/>
              <a:ext cx="304800" cy="1941576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854440" y="1110996"/>
              <a:ext cx="225551" cy="1862327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8438388" y="2589276"/>
              <a:ext cx="2580131" cy="158038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8659368" y="2606040"/>
              <a:ext cx="2203704" cy="1595628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8459724" y="2610612"/>
              <a:ext cx="2500883" cy="150113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8840216" y="2670810"/>
            <a:ext cx="1708150" cy="128206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 marR="5080" algn="ctr">
              <a:lnSpc>
                <a:spcPct val="91600"/>
              </a:lnSpc>
              <a:spcBef>
                <a:spcPts val="315"/>
              </a:spcBef>
            </a:pPr>
            <a:r>
              <a:rPr sz="2200" spc="-45" dirty="0">
                <a:solidFill>
                  <a:srgbClr val="FFFFFF"/>
                </a:solidFill>
                <a:latin typeface="Carlito"/>
                <a:cs typeface="Carlito"/>
              </a:rPr>
              <a:t>Iterate</a:t>
            </a:r>
            <a:r>
              <a:rPr sz="2200" spc="-13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Carlito"/>
                <a:cs typeface="Carlito"/>
              </a:rPr>
              <a:t>through  table </a:t>
            </a:r>
            <a:r>
              <a:rPr sz="2200" spc="-5" dirty="0">
                <a:solidFill>
                  <a:srgbClr val="FFFFFF"/>
                </a:solidFill>
                <a:latin typeface="Carlito"/>
                <a:cs typeface="Carlito"/>
              </a:rPr>
              <a:t>cells </a:t>
            </a:r>
            <a:r>
              <a:rPr sz="2200" spc="-30" dirty="0">
                <a:solidFill>
                  <a:srgbClr val="FFFFFF"/>
                </a:solidFill>
                <a:latin typeface="Carlito"/>
                <a:cs typeface="Carlito"/>
              </a:rPr>
              <a:t>to  extract </a:t>
            </a:r>
            <a:r>
              <a:rPr sz="2200" spc="-35" dirty="0">
                <a:solidFill>
                  <a:srgbClr val="FFFFFF"/>
                </a:solidFill>
                <a:latin typeface="Carlito"/>
                <a:cs typeface="Carlito"/>
              </a:rPr>
              <a:t>data </a:t>
            </a:r>
            <a:r>
              <a:rPr sz="2200" spc="-30" dirty="0">
                <a:solidFill>
                  <a:srgbClr val="FFFFFF"/>
                </a:solidFill>
                <a:latin typeface="Carlito"/>
                <a:cs typeface="Carlito"/>
              </a:rPr>
              <a:t>to  </a:t>
            </a:r>
            <a:r>
              <a:rPr sz="2200" spc="-10" dirty="0">
                <a:solidFill>
                  <a:srgbClr val="FFFFFF"/>
                </a:solidFill>
                <a:latin typeface="Carlito"/>
                <a:cs typeface="Carlito"/>
              </a:rPr>
              <a:t>dictionary</a:t>
            </a:r>
            <a:endParaRPr sz="2200">
              <a:latin typeface="Carlito"/>
              <a:cs typeface="Carlito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8438388" y="713231"/>
            <a:ext cx="2580640" cy="1580515"/>
            <a:chOff x="8438388" y="713231"/>
            <a:chExt cx="2580640" cy="1580515"/>
          </a:xfrm>
        </p:grpSpPr>
        <p:sp>
          <p:nvSpPr>
            <p:cNvPr id="42" name="object 42"/>
            <p:cNvSpPr/>
            <p:nvPr/>
          </p:nvSpPr>
          <p:spPr>
            <a:xfrm>
              <a:off x="8438388" y="713231"/>
              <a:ext cx="2580131" cy="158038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8525256" y="1037843"/>
              <a:ext cx="2468879" cy="981455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8459724" y="734567"/>
              <a:ext cx="2500883" cy="150113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8706104" y="1101090"/>
            <a:ext cx="1983105" cy="668020"/>
          </a:xfrm>
          <a:prstGeom prst="rect">
            <a:avLst/>
          </a:prstGeom>
        </p:spPr>
        <p:txBody>
          <a:bodyPr vert="horz" wrap="square" lIns="0" tIns="45719" rIns="0" bIns="0" rtlCol="0">
            <a:spAutoFit/>
          </a:bodyPr>
          <a:lstStyle/>
          <a:p>
            <a:pPr marL="384175" marR="5080" indent="-372110">
              <a:lnSpc>
                <a:spcPts val="2420"/>
              </a:lnSpc>
              <a:spcBef>
                <a:spcPts val="359"/>
              </a:spcBef>
            </a:pPr>
            <a:r>
              <a:rPr sz="2200" spc="-20" dirty="0">
                <a:solidFill>
                  <a:srgbClr val="FFFFFF"/>
                </a:solidFill>
                <a:latin typeface="Carlito"/>
                <a:cs typeface="Carlito"/>
              </a:rPr>
              <a:t>Cast </a:t>
            </a:r>
            <a:r>
              <a:rPr sz="2200" spc="-5" dirty="0">
                <a:solidFill>
                  <a:srgbClr val="FFFFFF"/>
                </a:solidFill>
                <a:latin typeface="Carlito"/>
                <a:cs typeface="Carlito"/>
              </a:rPr>
              <a:t>dictionary</a:t>
            </a:r>
            <a:r>
              <a:rPr sz="2200" spc="-13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200" spc="-60" dirty="0">
                <a:solidFill>
                  <a:srgbClr val="FFFFFF"/>
                </a:solidFill>
                <a:latin typeface="Carlito"/>
                <a:cs typeface="Carlito"/>
              </a:rPr>
              <a:t>to  </a:t>
            </a:r>
            <a:r>
              <a:rPr sz="2200" spc="-30" dirty="0">
                <a:solidFill>
                  <a:srgbClr val="FFFFFF"/>
                </a:solidFill>
                <a:latin typeface="Carlito"/>
                <a:cs typeface="Carlito"/>
              </a:rPr>
              <a:t>DataFrame</a:t>
            </a:r>
            <a:endParaRPr sz="2200">
              <a:latin typeface="Carlito"/>
              <a:cs typeface="Carlito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35635" y="4448302"/>
            <a:ext cx="86550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u="sng" spc="-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rlito"/>
                <a:cs typeface="Carlito"/>
              </a:rPr>
              <a:t>GitHub</a:t>
            </a:r>
            <a:r>
              <a:rPr sz="1500" u="sng" spc="-15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rlito"/>
                <a:cs typeface="Carlito"/>
              </a:rPr>
              <a:t> </a:t>
            </a:r>
            <a:r>
              <a:rPr sz="15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rlito"/>
                <a:cs typeface="Carlito"/>
              </a:rPr>
              <a:t>url:</a:t>
            </a:r>
            <a:endParaRPr sz="1500">
              <a:latin typeface="Carlito"/>
              <a:cs typeface="Carlito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35635" y="4830826"/>
            <a:ext cx="2988945" cy="1282402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280"/>
              </a:spcBef>
            </a:pPr>
            <a:r>
              <a:rPr lang="en-IN" sz="1500" u="sng" spc="-10" dirty="0">
                <a:solidFill>
                  <a:srgbClr val="2996E1"/>
                </a:solidFill>
                <a:uFill>
                  <a:solidFill>
                    <a:srgbClr val="2996E1"/>
                  </a:solidFill>
                </a:uFill>
                <a:latin typeface="Carlito"/>
                <a:cs typeface="Carlito"/>
                <a:hlinkClick r:id="rId17"/>
              </a:rPr>
              <a:t>https://github.com/navassherif98/IBM_Data_Science_Professional_Certification/blob/master/10.Applied_Data_Science_Capstone/Week%201%20Introduction/Data%20Collection%20with%20Web%20Scraping.ipynb</a:t>
            </a:r>
            <a:endParaRPr lang="en-IN" sz="15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635" y="615822"/>
            <a:ext cx="368871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40" dirty="0"/>
              <a:t>Data</a:t>
            </a:r>
            <a:r>
              <a:rPr spc="-530" dirty="0"/>
              <a:t> </a:t>
            </a:r>
            <a:r>
              <a:rPr spc="-275" dirty="0"/>
              <a:t>Wrangling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10</a:t>
            </a:fld>
            <a:endParaRPr dirty="0"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467361" y="2091819"/>
            <a:ext cx="11734799" cy="4082656"/>
          </a:xfrm>
          <a:prstGeom prst="rect">
            <a:avLst/>
          </a:prstGeom>
        </p:spPr>
        <p:txBody>
          <a:bodyPr vert="horz" wrap="square" lIns="0" tIns="162560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1280"/>
              </a:spcBef>
            </a:pP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Create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training label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with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landing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outcomes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where successful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= 1 &amp;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failure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=</a:t>
            </a:r>
            <a:r>
              <a:rPr sz="2000" spc="-8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0.</a:t>
            </a:r>
            <a:endParaRPr sz="2000" dirty="0">
              <a:latin typeface="Carlito"/>
              <a:cs typeface="Carlito"/>
            </a:endParaRPr>
          </a:p>
          <a:p>
            <a:pPr marL="16510">
              <a:lnSpc>
                <a:spcPct val="100000"/>
              </a:lnSpc>
              <a:spcBef>
                <a:spcPts val="1175"/>
              </a:spcBef>
            </a:pP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Outcome</a:t>
            </a:r>
            <a:r>
              <a:rPr sz="2000" spc="-7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column</a:t>
            </a:r>
            <a:r>
              <a:rPr sz="2000" spc="-4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has</a:t>
            </a:r>
            <a:r>
              <a:rPr sz="2000" spc="-4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two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components:</a:t>
            </a:r>
            <a:r>
              <a:rPr sz="2000" spc="-7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‘Mission</a:t>
            </a:r>
            <a:r>
              <a:rPr sz="2000" spc="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Outcome’</a:t>
            </a:r>
            <a:r>
              <a:rPr sz="2000" spc="-6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‘Landing</a:t>
            </a:r>
            <a:r>
              <a:rPr sz="2000" spc="-5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Location’</a:t>
            </a:r>
            <a:endParaRPr sz="2000" dirty="0">
              <a:latin typeface="Carlito"/>
              <a:cs typeface="Carlito"/>
            </a:endParaRPr>
          </a:p>
          <a:p>
            <a:pPr marL="16510" marR="5080">
              <a:lnSpc>
                <a:spcPct val="150000"/>
              </a:lnSpc>
              <a:spcBef>
                <a:spcPts val="290"/>
              </a:spcBef>
            </a:pP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New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training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label column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‘class’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with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value of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1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if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‘Mission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Outcome’ is </a:t>
            </a:r>
            <a:r>
              <a:rPr sz="2000" spc="-30" dirty="0">
                <a:solidFill>
                  <a:srgbClr val="404040"/>
                </a:solidFill>
                <a:latin typeface="Carlito"/>
                <a:cs typeface="Carlito"/>
              </a:rPr>
              <a:t>True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0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otherwise.  </a:t>
            </a:r>
            <a:r>
              <a:rPr sz="2000" u="heavy" spc="-2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Value </a:t>
            </a:r>
            <a:r>
              <a:rPr sz="2000" u="heavy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Mapping:</a:t>
            </a:r>
            <a:endParaRPr sz="2000" dirty="0">
              <a:latin typeface="Carlito"/>
              <a:cs typeface="Carlito"/>
            </a:endParaRPr>
          </a:p>
          <a:p>
            <a:pPr marL="16510">
              <a:lnSpc>
                <a:spcPct val="100000"/>
              </a:lnSpc>
              <a:spcBef>
                <a:spcPts val="1275"/>
              </a:spcBef>
            </a:pPr>
            <a:r>
              <a:rPr sz="2000" spc="-30" dirty="0">
                <a:solidFill>
                  <a:srgbClr val="404040"/>
                </a:solidFill>
                <a:latin typeface="Carlito"/>
                <a:cs typeface="Carlito"/>
              </a:rPr>
              <a:t>True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ASDS, </a:t>
            </a:r>
            <a:r>
              <a:rPr sz="2000" spc="-30" dirty="0">
                <a:solidFill>
                  <a:srgbClr val="404040"/>
                </a:solidFill>
                <a:latin typeface="Carlito"/>
                <a:cs typeface="Carlito"/>
              </a:rPr>
              <a:t>True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RTLS,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&amp; </a:t>
            </a:r>
            <a:r>
              <a:rPr sz="2000" spc="-30" dirty="0">
                <a:solidFill>
                  <a:srgbClr val="404040"/>
                </a:solidFill>
                <a:latin typeface="Carlito"/>
                <a:cs typeface="Carlito"/>
              </a:rPr>
              <a:t>True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Ocean –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set to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-&gt;</a:t>
            </a:r>
            <a:r>
              <a:rPr sz="2000" spc="-8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1</a:t>
            </a:r>
            <a:endParaRPr sz="2000" dirty="0">
              <a:latin typeface="Carlito"/>
              <a:cs typeface="Carlito"/>
            </a:endParaRPr>
          </a:p>
          <a:p>
            <a:pPr marL="1651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None None,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False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ASDS, None ASDS,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False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Ocean,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False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RTLS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–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set to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-&gt;</a:t>
            </a:r>
            <a:r>
              <a:rPr sz="2000" spc="-10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0</a:t>
            </a:r>
            <a:endParaRPr sz="2000" dirty="0">
              <a:latin typeface="Carlito"/>
              <a:cs typeface="Carlito"/>
            </a:endParaRPr>
          </a:p>
          <a:p>
            <a:pPr marL="3810">
              <a:lnSpc>
                <a:spcPct val="100000"/>
              </a:lnSpc>
              <a:spcBef>
                <a:spcPts val="5"/>
              </a:spcBef>
            </a:pPr>
            <a:endParaRPr sz="2550" dirty="0">
              <a:latin typeface="Carlito"/>
              <a:cs typeface="Carlito"/>
            </a:endParaRPr>
          </a:p>
          <a:p>
            <a:pPr marL="16510" marR="1900555">
              <a:lnSpc>
                <a:spcPct val="148000"/>
              </a:lnSpc>
            </a:pPr>
            <a:r>
              <a:rPr sz="2000" u="heavy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GitHub url: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lang="en-IN" sz="2000" u="heavy" spc="-5" dirty="0">
                <a:solidFill>
                  <a:srgbClr val="2996E1"/>
                </a:solidFill>
                <a:uFill>
                  <a:solidFill>
                    <a:srgbClr val="2996E1"/>
                  </a:solidFill>
                </a:uFill>
                <a:latin typeface="Carlito"/>
                <a:cs typeface="Carlito"/>
                <a:hlinkClick r:id="rId2"/>
              </a:rPr>
              <a:t>https://github.com/navassherif98/IBM_Data_Science_Professional_Certification/blob/master/10.Applied_Data_Science_Capstone/Week%201%20Introduction/Data%20wrangling%20.ipynb</a:t>
            </a:r>
            <a:endParaRPr sz="20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635" y="543559"/>
            <a:ext cx="653415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70" dirty="0"/>
              <a:t>EDA </a:t>
            </a:r>
            <a:r>
              <a:rPr spc="-45" dirty="0"/>
              <a:t>with </a:t>
            </a:r>
            <a:r>
              <a:rPr spc="-340" dirty="0"/>
              <a:t>Data</a:t>
            </a:r>
            <a:r>
              <a:rPr spc="-650" dirty="0"/>
              <a:t> </a:t>
            </a:r>
            <a:r>
              <a:rPr spc="-270" dirty="0"/>
              <a:t>Visualization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11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1176019" y="1824608"/>
            <a:ext cx="9963150" cy="3583940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 marR="556260">
              <a:lnSpc>
                <a:spcPts val="2210"/>
              </a:lnSpc>
              <a:spcBef>
                <a:spcPts val="335"/>
              </a:spcBef>
            </a:pP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Exploratory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Data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Analysis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performed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on variables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Flight </a:t>
            </a:r>
            <a:r>
              <a:rPr sz="2000" spc="-50" dirty="0">
                <a:solidFill>
                  <a:srgbClr val="404040"/>
                </a:solidFill>
                <a:latin typeface="Carlito"/>
                <a:cs typeface="Carlito"/>
              </a:rPr>
              <a:t>Number,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Payload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Mass,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Launch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Site, 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Orbit, Class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</a:t>
            </a:r>
            <a:r>
              <a:rPr sz="2000" spc="-4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130" dirty="0">
                <a:solidFill>
                  <a:srgbClr val="404040"/>
                </a:solidFill>
                <a:latin typeface="Carlito"/>
                <a:cs typeface="Carlito"/>
              </a:rPr>
              <a:t>Year.</a:t>
            </a:r>
            <a:endParaRPr sz="200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1050"/>
              </a:spcBef>
            </a:pPr>
            <a:r>
              <a:rPr sz="2000" u="heavy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Plots</a:t>
            </a:r>
            <a:r>
              <a:rPr sz="2000" u="heavy" spc="-5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 </a:t>
            </a:r>
            <a:r>
              <a:rPr sz="2000" u="heavy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Used:</a:t>
            </a:r>
            <a:endParaRPr sz="2000" dirty="0">
              <a:latin typeface="Carlito"/>
              <a:cs typeface="Carlito"/>
            </a:endParaRPr>
          </a:p>
          <a:p>
            <a:pPr marL="12700" marR="405765">
              <a:lnSpc>
                <a:spcPts val="2210"/>
              </a:lnSpc>
              <a:spcBef>
                <a:spcPts val="1430"/>
              </a:spcBef>
            </a:pP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Flight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Number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vs.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Payload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Mass,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Flight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Number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vs.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Launch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Site,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Payload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Mass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vs.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Launch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Site, 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Orbit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vs.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Success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Rate,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Flight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Number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vs.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Orbit,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Payload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vs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Orbit,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Success </a:t>
            </a:r>
            <a:r>
              <a:rPr sz="2000" spc="-60" dirty="0">
                <a:solidFill>
                  <a:srgbClr val="404040"/>
                </a:solidFill>
                <a:latin typeface="Carlito"/>
                <a:cs typeface="Carlito"/>
              </a:rPr>
              <a:t>Yearly</a:t>
            </a:r>
            <a:r>
              <a:rPr sz="2000" spc="7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60" dirty="0">
                <a:solidFill>
                  <a:srgbClr val="404040"/>
                </a:solidFill>
                <a:latin typeface="Carlito"/>
                <a:cs typeface="Carlito"/>
              </a:rPr>
              <a:t>Trend</a:t>
            </a:r>
            <a:endParaRPr sz="2000" dirty="0">
              <a:latin typeface="Carlito"/>
              <a:cs typeface="Carlito"/>
            </a:endParaRPr>
          </a:p>
          <a:p>
            <a:pPr marL="12700">
              <a:lnSpc>
                <a:spcPts val="2300"/>
              </a:lnSpc>
              <a:spcBef>
                <a:spcPts val="1160"/>
              </a:spcBef>
            </a:pP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Scatter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plots, line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charts, and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bar plots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were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used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compare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relationships between variables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 to</a:t>
            </a:r>
            <a:endParaRPr sz="2000" dirty="0">
              <a:latin typeface="Carlito"/>
              <a:cs typeface="Carlito"/>
            </a:endParaRPr>
          </a:p>
          <a:p>
            <a:pPr marL="12700">
              <a:lnSpc>
                <a:spcPts val="2300"/>
              </a:lnSpc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decide if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relationship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exists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so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that they could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be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used in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training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machine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learning</a:t>
            </a:r>
            <a:r>
              <a:rPr sz="2000" spc="-4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model</a:t>
            </a:r>
            <a:endParaRPr sz="2000" dirty="0">
              <a:latin typeface="Carlito"/>
              <a:cs typeface="Carlito"/>
            </a:endParaRPr>
          </a:p>
          <a:p>
            <a:pPr marL="12700" marR="5080">
              <a:lnSpc>
                <a:spcPct val="100000"/>
              </a:lnSpc>
              <a:spcBef>
                <a:spcPts val="1105"/>
              </a:spcBef>
            </a:pPr>
            <a:r>
              <a:rPr sz="2000" u="heavy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GitHub </a:t>
            </a:r>
            <a:r>
              <a:rPr sz="2000" u="heavy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url: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lang="en-IN" sz="2000" u="heavy" spc="-10" dirty="0">
                <a:solidFill>
                  <a:srgbClr val="2996E1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  <a:hlinkClick r:id="rId2"/>
              </a:rPr>
              <a:t>https://github.com/navassherif98/IBM_Data_Science_Professional_Certification/blob/master/10.Applied_Data_Science_Capstone/Week%202%20EDA/EDA%20with%20Visualization.ipynb</a:t>
            </a:r>
            <a:endParaRPr sz="20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635" y="543559"/>
            <a:ext cx="324548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70" dirty="0"/>
              <a:t>EDA </a:t>
            </a:r>
            <a:r>
              <a:rPr spc="-45" dirty="0"/>
              <a:t>with</a:t>
            </a:r>
            <a:r>
              <a:rPr spc="-280" dirty="0"/>
              <a:t> </a:t>
            </a:r>
            <a:r>
              <a:rPr spc="-770" dirty="0"/>
              <a:t>SQL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12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1176019" y="1622485"/>
            <a:ext cx="9687560" cy="3925570"/>
          </a:xfrm>
          <a:prstGeom prst="rect">
            <a:avLst/>
          </a:prstGeom>
        </p:spPr>
        <p:txBody>
          <a:bodyPr vert="horz" wrap="square" lIns="0" tIns="1625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8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Loaded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data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set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into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IBM DB2</a:t>
            </a:r>
            <a:r>
              <a:rPr sz="2000" spc="-12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Database.</a:t>
            </a:r>
            <a:endParaRPr sz="200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Queried using SQL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Python</a:t>
            </a:r>
            <a:r>
              <a:rPr sz="2000" spc="-10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integration.</a:t>
            </a:r>
            <a:endParaRPr sz="200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Queries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were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made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get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better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understanding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</a:t>
            </a:r>
            <a:r>
              <a:rPr sz="2000" spc="2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dataset.</a:t>
            </a:r>
            <a:endParaRPr sz="2000" dirty="0">
              <a:latin typeface="Carlito"/>
              <a:cs typeface="Carlito"/>
            </a:endParaRPr>
          </a:p>
          <a:p>
            <a:pPr marL="12700" marR="434975">
              <a:lnSpc>
                <a:spcPts val="2200"/>
              </a:lnSpc>
              <a:spcBef>
                <a:spcPts val="144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Queried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information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about launch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site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names, mission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outcomes, various pay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load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sizes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 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customers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booster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versions,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landing</a:t>
            </a:r>
            <a:r>
              <a:rPr sz="2000" spc="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outcomes</a:t>
            </a:r>
            <a:endParaRPr sz="2000" dirty="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450" dirty="0">
              <a:latin typeface="Carlito"/>
              <a:cs typeface="Carlito"/>
            </a:endParaRPr>
          </a:p>
          <a:p>
            <a:pPr marL="12700" marR="5080">
              <a:lnSpc>
                <a:spcPct val="149000"/>
              </a:lnSpc>
            </a:pPr>
            <a:r>
              <a:rPr sz="2000" u="heavy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GitHub </a:t>
            </a:r>
            <a:r>
              <a:rPr sz="2000" u="heavy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url: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lang="en-IN" sz="2000" u="heavy" spc="-5" dirty="0">
                <a:solidFill>
                  <a:srgbClr val="2996E1"/>
                </a:solidFill>
                <a:uFill>
                  <a:solidFill>
                    <a:srgbClr val="2996E1"/>
                  </a:solidFill>
                </a:uFill>
                <a:latin typeface="Carlito"/>
                <a:cs typeface="Carlito"/>
                <a:hlinkClick r:id="rId2"/>
              </a:rPr>
              <a:t>https://github.com/navassherif98/IBM_Data_Science_Professional_Certification/blob/master/10.Applied_Data_Science_Capstone/Week%202%20EDA/EDA%20with%20SQL.ipynb</a:t>
            </a:r>
            <a:endParaRPr sz="20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635" y="543559"/>
            <a:ext cx="873379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45" dirty="0"/>
              <a:t>Build </a:t>
            </a:r>
            <a:r>
              <a:rPr spc="-315" dirty="0"/>
              <a:t>an </a:t>
            </a:r>
            <a:r>
              <a:rPr spc="-190" dirty="0"/>
              <a:t>interactive </a:t>
            </a:r>
            <a:r>
              <a:rPr spc="-295" dirty="0"/>
              <a:t>map </a:t>
            </a:r>
            <a:r>
              <a:rPr spc="-45" dirty="0"/>
              <a:t>with</a:t>
            </a:r>
            <a:r>
              <a:rPr spc="-780" dirty="0"/>
              <a:t> </a:t>
            </a:r>
            <a:r>
              <a:rPr spc="-270" dirty="0"/>
              <a:t>Folium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13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1176019" y="1824608"/>
            <a:ext cx="9765665" cy="3162789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 marR="5080">
              <a:lnSpc>
                <a:spcPts val="2210"/>
              </a:lnSpc>
              <a:spcBef>
                <a:spcPts val="335"/>
              </a:spcBef>
            </a:pP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Folium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maps mark Launch Sites, successful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unsuccessful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landings, and a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proximity example 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</a:t>
            </a:r>
            <a:r>
              <a:rPr sz="2000" spc="-40" dirty="0">
                <a:solidFill>
                  <a:srgbClr val="404040"/>
                </a:solidFill>
                <a:latin typeface="Carlito"/>
                <a:cs typeface="Carlito"/>
              </a:rPr>
              <a:t>key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locations: </a:t>
            </a:r>
            <a:r>
              <a:rPr sz="2000" spc="-60" dirty="0">
                <a:solidFill>
                  <a:srgbClr val="404040"/>
                </a:solidFill>
                <a:latin typeface="Carlito"/>
                <a:cs typeface="Carlito"/>
              </a:rPr>
              <a:t>Railway, Highway,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Coast,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</a:t>
            </a:r>
            <a:r>
              <a:rPr sz="2000" spc="3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60" dirty="0">
                <a:solidFill>
                  <a:srgbClr val="404040"/>
                </a:solidFill>
                <a:latin typeface="Carlito"/>
                <a:cs typeface="Carlito"/>
              </a:rPr>
              <a:t>City.</a:t>
            </a:r>
            <a:endParaRPr sz="2000" dirty="0">
              <a:latin typeface="Carlito"/>
              <a:cs typeface="Carlito"/>
            </a:endParaRPr>
          </a:p>
          <a:p>
            <a:pPr marL="12700" marR="311150">
              <a:lnSpc>
                <a:spcPts val="2300"/>
              </a:lnSpc>
              <a:spcBef>
                <a:spcPts val="1115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This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allows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us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understand why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launch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sites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may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be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located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where they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are.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Also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visualizes 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successful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landings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relative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location.</a:t>
            </a:r>
            <a:endParaRPr sz="200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sz="2000" u="heavy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GitHub</a:t>
            </a:r>
            <a:r>
              <a:rPr sz="2000" u="heavy" spc="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 </a:t>
            </a:r>
            <a:r>
              <a:rPr sz="2000" u="heavy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url:</a:t>
            </a:r>
            <a:endParaRPr sz="2000" dirty="0">
              <a:latin typeface="Carlito"/>
              <a:cs typeface="Carlito"/>
            </a:endParaRPr>
          </a:p>
          <a:p>
            <a:pPr marL="12700" marR="7620">
              <a:lnSpc>
                <a:spcPct val="150100"/>
              </a:lnSpc>
              <a:spcBef>
                <a:spcPts val="300"/>
              </a:spcBef>
            </a:pPr>
            <a:r>
              <a:rPr lang="en-IN" sz="2000" u="heavy" spc="-10" dirty="0">
                <a:solidFill>
                  <a:srgbClr val="2996E1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  <a:hlinkClick r:id="rId2"/>
              </a:rPr>
              <a:t>https://github.com/navassherif98/IBM_Data_Science_Professional_Certification/blob/master/10.Applied_Data_Science_Capstone/Week%203%20Interactive%20Visual%20Analytics%20and%20Dashboard/Interactive%20Visual%20Analytics%20with%20Folium.ipynb</a:t>
            </a:r>
            <a:endParaRPr sz="20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635" y="543559"/>
            <a:ext cx="832929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45" dirty="0"/>
              <a:t>Build </a:t>
            </a:r>
            <a:r>
              <a:rPr spc="-415" dirty="0"/>
              <a:t>a </a:t>
            </a:r>
            <a:r>
              <a:rPr spc="-340" dirty="0"/>
              <a:t>Dashboard </a:t>
            </a:r>
            <a:r>
              <a:rPr spc="-45" dirty="0"/>
              <a:t>with </a:t>
            </a:r>
            <a:r>
              <a:rPr spc="-210" dirty="0"/>
              <a:t>Plotly</a:t>
            </a:r>
            <a:r>
              <a:rPr spc="-800" dirty="0"/>
              <a:t> </a:t>
            </a:r>
            <a:r>
              <a:rPr spc="-450" dirty="0"/>
              <a:t>Dash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14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609600" y="1676247"/>
            <a:ext cx="11430000" cy="4658711"/>
          </a:xfrm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Dashboard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includes a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pie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chart and a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scatter</a:t>
            </a:r>
            <a:r>
              <a:rPr sz="2000" spc="-13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plot.</a:t>
            </a:r>
            <a:endParaRPr sz="2000" dirty="0">
              <a:latin typeface="Carlito"/>
              <a:cs typeface="Carlito"/>
            </a:endParaRPr>
          </a:p>
          <a:p>
            <a:pPr marL="12700" marR="84455">
              <a:lnSpc>
                <a:spcPts val="2290"/>
              </a:lnSpc>
              <a:spcBef>
                <a:spcPts val="1275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Pie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chart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can be selected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show distribution of successful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across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all launch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sites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can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be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selected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show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individual launch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site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success</a:t>
            </a:r>
            <a:r>
              <a:rPr sz="2000" spc="-11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30" dirty="0">
                <a:solidFill>
                  <a:srgbClr val="404040"/>
                </a:solidFill>
                <a:latin typeface="Carlito"/>
                <a:cs typeface="Carlito"/>
              </a:rPr>
              <a:t>rates.</a:t>
            </a:r>
            <a:endParaRPr sz="2000" dirty="0">
              <a:latin typeface="Carlito"/>
              <a:cs typeface="Carlito"/>
            </a:endParaRPr>
          </a:p>
          <a:p>
            <a:pPr marL="12700" marR="5080">
              <a:lnSpc>
                <a:spcPts val="2210"/>
              </a:lnSpc>
              <a:spcBef>
                <a:spcPts val="1375"/>
              </a:spcBef>
            </a:pP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Scatter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plot </a:t>
            </a:r>
            <a:r>
              <a:rPr sz="2000" spc="-40" dirty="0">
                <a:solidFill>
                  <a:srgbClr val="404040"/>
                </a:solidFill>
                <a:latin typeface="Carlito"/>
                <a:cs typeface="Carlito"/>
              </a:rPr>
              <a:t>takes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two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inputs: All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sites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or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individual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site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payload mass on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slider between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0  and 10000</a:t>
            </a:r>
            <a:r>
              <a:rPr sz="2000" spc="-10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kg.</a:t>
            </a:r>
            <a:endParaRPr sz="200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105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The pie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chart is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used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visualize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launch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site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success</a:t>
            </a:r>
            <a:r>
              <a:rPr sz="2000" spc="2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40" dirty="0">
                <a:solidFill>
                  <a:srgbClr val="404040"/>
                </a:solidFill>
                <a:latin typeface="Carlito"/>
                <a:cs typeface="Carlito"/>
              </a:rPr>
              <a:t>rate.</a:t>
            </a:r>
            <a:endParaRPr sz="2000" dirty="0">
              <a:latin typeface="Carlito"/>
              <a:cs typeface="Carlito"/>
            </a:endParaRPr>
          </a:p>
          <a:p>
            <a:pPr marL="12700">
              <a:lnSpc>
                <a:spcPts val="2350"/>
              </a:lnSpc>
              <a:spcBef>
                <a:spcPts val="1105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scatter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plot can help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us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see how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success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varies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across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launch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sites,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payload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mass,</a:t>
            </a:r>
            <a:r>
              <a:rPr sz="2000" spc="1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</a:t>
            </a:r>
            <a:endParaRPr sz="2000" dirty="0">
              <a:latin typeface="Carlito"/>
              <a:cs typeface="Carlito"/>
            </a:endParaRPr>
          </a:p>
          <a:p>
            <a:pPr marL="12700">
              <a:lnSpc>
                <a:spcPts val="2350"/>
              </a:lnSpc>
            </a:pP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booster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version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45" dirty="0">
                <a:solidFill>
                  <a:srgbClr val="404040"/>
                </a:solidFill>
                <a:latin typeface="Carlito"/>
                <a:cs typeface="Carlito"/>
              </a:rPr>
              <a:t>category.</a:t>
            </a:r>
            <a:endParaRPr sz="200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sz="2000" u="heavy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GitHub</a:t>
            </a:r>
            <a:r>
              <a:rPr sz="2000" u="heavy" spc="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 </a:t>
            </a:r>
            <a:r>
              <a:rPr sz="2000" u="heavy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url:</a:t>
            </a:r>
            <a:endParaRPr sz="2000" dirty="0">
              <a:latin typeface="Carlito"/>
              <a:cs typeface="Carlito"/>
            </a:endParaRPr>
          </a:p>
          <a:p>
            <a:pPr marL="12700" marR="1557020">
              <a:lnSpc>
                <a:spcPct val="150000"/>
              </a:lnSpc>
              <a:spcBef>
                <a:spcPts val="95"/>
              </a:spcBef>
            </a:pPr>
            <a:r>
              <a:rPr lang="en-IN" sz="2000" u="heavy" spc="-10" dirty="0">
                <a:solidFill>
                  <a:srgbClr val="2996E1"/>
                </a:solidFill>
                <a:uFill>
                  <a:solidFill>
                    <a:srgbClr val="2996E1"/>
                  </a:solidFill>
                </a:uFill>
                <a:latin typeface="Carlito"/>
                <a:cs typeface="Carlito"/>
                <a:hlinkClick r:id="rId2"/>
              </a:rPr>
              <a:t>https://github.com/navassherif98/IBM_Data_Science_Professional_Certification/blob/master/10.Applied_Data_Science_Capstone/Week%203%20Interactive%20Visual%20Analytics%20and%20Dashboard/spacex_dash_app.py</a:t>
            </a:r>
            <a:endParaRPr sz="20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635" y="543559"/>
            <a:ext cx="7919084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0" dirty="0"/>
              <a:t>Predictive </a:t>
            </a:r>
            <a:r>
              <a:rPr spc="-355" dirty="0"/>
              <a:t>analysis</a:t>
            </a:r>
            <a:r>
              <a:rPr spc="-555" dirty="0"/>
              <a:t> </a:t>
            </a:r>
            <a:r>
              <a:rPr spc="-280" dirty="0"/>
              <a:t>(Classification)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3401" y="2472309"/>
            <a:ext cx="3061208" cy="279627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u="heavy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GitHub</a:t>
            </a:r>
            <a:r>
              <a:rPr sz="2000" u="heavy" spc="-9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 </a:t>
            </a:r>
            <a:r>
              <a:rPr sz="2000" u="heavy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url:</a:t>
            </a:r>
            <a:endParaRPr lang="en-IN" sz="2000" u="heavy" spc="-5" dirty="0">
              <a:solidFill>
                <a:srgbClr val="404040"/>
              </a:solidFill>
              <a:uFill>
                <a:solidFill>
                  <a:srgbClr val="404040"/>
                </a:solidFill>
              </a:uFill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z="2000" dirty="0">
                <a:latin typeface="Carlito"/>
                <a:cs typeface="Carlito"/>
                <a:hlinkClick r:id="rId2"/>
              </a:rPr>
              <a:t>https://github.com/navassherif98/IBM_Data_Science_Professional_Certification/blob/master/10.Applied_Data_Science_Capstone/Week%204%20Predictive%20Analysis%20(Classification)/Machine%20Learning%20Prediction.ipynb</a:t>
            </a:r>
            <a:endParaRPr sz="2000" dirty="0">
              <a:latin typeface="Carlito"/>
              <a:cs typeface="Carlito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822191" y="1933955"/>
            <a:ext cx="1938655" cy="1728470"/>
            <a:chOff x="3822191" y="1933955"/>
            <a:chExt cx="1938655" cy="1728470"/>
          </a:xfrm>
        </p:grpSpPr>
        <p:sp>
          <p:nvSpPr>
            <p:cNvPr id="6" name="object 6"/>
            <p:cNvSpPr/>
            <p:nvPr/>
          </p:nvSpPr>
          <p:spPr>
            <a:xfrm>
              <a:off x="4133087" y="2229611"/>
              <a:ext cx="173990" cy="1432560"/>
            </a:xfrm>
            <a:custGeom>
              <a:avLst/>
              <a:gdLst/>
              <a:ahLst/>
              <a:cxnLst/>
              <a:rect l="l" t="t" r="r" b="b"/>
              <a:pathLst>
                <a:path w="173989" h="1432560">
                  <a:moveTo>
                    <a:pt x="173482" y="0"/>
                  </a:moveTo>
                  <a:lnTo>
                    <a:pt x="0" y="0"/>
                  </a:lnTo>
                  <a:lnTo>
                    <a:pt x="0" y="1432560"/>
                  </a:lnTo>
                  <a:lnTo>
                    <a:pt x="173482" y="1432560"/>
                  </a:lnTo>
                  <a:lnTo>
                    <a:pt x="173482" y="0"/>
                  </a:lnTo>
                  <a:close/>
                </a:path>
              </a:pathLst>
            </a:custGeom>
            <a:solidFill>
              <a:srgbClr val="EDC1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829811" y="1941575"/>
              <a:ext cx="1923414" cy="1153795"/>
            </a:xfrm>
            <a:custGeom>
              <a:avLst/>
              <a:gdLst/>
              <a:ahLst/>
              <a:cxnLst/>
              <a:rect l="l" t="t" r="r" b="b"/>
              <a:pathLst>
                <a:path w="1923414" h="1153795">
                  <a:moveTo>
                    <a:pt x="1807845" y="0"/>
                  </a:moveTo>
                  <a:lnTo>
                    <a:pt x="115315" y="0"/>
                  </a:lnTo>
                  <a:lnTo>
                    <a:pt x="70485" y="9016"/>
                  </a:lnTo>
                  <a:lnTo>
                    <a:pt x="33782" y="33782"/>
                  </a:lnTo>
                  <a:lnTo>
                    <a:pt x="9016" y="70485"/>
                  </a:lnTo>
                  <a:lnTo>
                    <a:pt x="0" y="115315"/>
                  </a:lnTo>
                  <a:lnTo>
                    <a:pt x="0" y="1038225"/>
                  </a:lnTo>
                  <a:lnTo>
                    <a:pt x="9016" y="1083056"/>
                  </a:lnTo>
                  <a:lnTo>
                    <a:pt x="33782" y="1119759"/>
                  </a:lnTo>
                  <a:lnTo>
                    <a:pt x="70485" y="1144524"/>
                  </a:lnTo>
                  <a:lnTo>
                    <a:pt x="115315" y="1153540"/>
                  </a:lnTo>
                  <a:lnTo>
                    <a:pt x="1807845" y="1153540"/>
                  </a:lnTo>
                  <a:lnTo>
                    <a:pt x="1852676" y="1144524"/>
                  </a:lnTo>
                  <a:lnTo>
                    <a:pt x="1889378" y="1119759"/>
                  </a:lnTo>
                  <a:lnTo>
                    <a:pt x="1914143" y="1083056"/>
                  </a:lnTo>
                  <a:lnTo>
                    <a:pt x="1923161" y="1038225"/>
                  </a:lnTo>
                  <a:lnTo>
                    <a:pt x="1923161" y="115315"/>
                  </a:lnTo>
                  <a:lnTo>
                    <a:pt x="1914143" y="70485"/>
                  </a:lnTo>
                  <a:lnTo>
                    <a:pt x="1889378" y="33782"/>
                  </a:lnTo>
                  <a:lnTo>
                    <a:pt x="1852676" y="9016"/>
                  </a:lnTo>
                  <a:lnTo>
                    <a:pt x="1807845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829811" y="1941575"/>
              <a:ext cx="1923414" cy="1153795"/>
            </a:xfrm>
            <a:custGeom>
              <a:avLst/>
              <a:gdLst/>
              <a:ahLst/>
              <a:cxnLst/>
              <a:rect l="l" t="t" r="r" b="b"/>
              <a:pathLst>
                <a:path w="1923414" h="1153795">
                  <a:moveTo>
                    <a:pt x="0" y="115315"/>
                  </a:moveTo>
                  <a:lnTo>
                    <a:pt x="9016" y="70485"/>
                  </a:lnTo>
                  <a:lnTo>
                    <a:pt x="33782" y="33782"/>
                  </a:lnTo>
                  <a:lnTo>
                    <a:pt x="70485" y="9016"/>
                  </a:lnTo>
                  <a:lnTo>
                    <a:pt x="115315" y="0"/>
                  </a:lnTo>
                  <a:lnTo>
                    <a:pt x="1807845" y="0"/>
                  </a:lnTo>
                  <a:lnTo>
                    <a:pt x="1852676" y="9016"/>
                  </a:lnTo>
                  <a:lnTo>
                    <a:pt x="1889378" y="33782"/>
                  </a:lnTo>
                  <a:lnTo>
                    <a:pt x="1914143" y="70485"/>
                  </a:lnTo>
                  <a:lnTo>
                    <a:pt x="1923161" y="115315"/>
                  </a:lnTo>
                  <a:lnTo>
                    <a:pt x="1923161" y="1038225"/>
                  </a:lnTo>
                  <a:lnTo>
                    <a:pt x="1914143" y="1083056"/>
                  </a:lnTo>
                  <a:lnTo>
                    <a:pt x="1889378" y="1119759"/>
                  </a:lnTo>
                  <a:lnTo>
                    <a:pt x="1852676" y="1144524"/>
                  </a:lnTo>
                  <a:lnTo>
                    <a:pt x="1807845" y="1153540"/>
                  </a:lnTo>
                  <a:lnTo>
                    <a:pt x="115315" y="1153540"/>
                  </a:lnTo>
                  <a:lnTo>
                    <a:pt x="70485" y="1144524"/>
                  </a:lnTo>
                  <a:lnTo>
                    <a:pt x="33782" y="1119759"/>
                  </a:lnTo>
                  <a:lnTo>
                    <a:pt x="9016" y="1083056"/>
                  </a:lnTo>
                  <a:lnTo>
                    <a:pt x="0" y="1038225"/>
                  </a:lnTo>
                  <a:lnTo>
                    <a:pt x="0" y="115315"/>
                  </a:lnTo>
                  <a:close/>
                </a:path>
              </a:pathLst>
            </a:custGeom>
            <a:ln w="1524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998721" y="2219960"/>
            <a:ext cx="156845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" dirty="0">
                <a:solidFill>
                  <a:srgbClr val="FFFFFF"/>
                </a:solidFill>
                <a:latin typeface="Carlito"/>
                <a:cs typeface="Carlito"/>
              </a:rPr>
              <a:t>Split </a:t>
            </a: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label</a:t>
            </a:r>
            <a:r>
              <a:rPr sz="1700" spc="-19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700" spc="-5" dirty="0">
                <a:solidFill>
                  <a:srgbClr val="FFFFFF"/>
                </a:solidFill>
                <a:latin typeface="Carlito"/>
                <a:cs typeface="Carlito"/>
              </a:rPr>
              <a:t>column</a:t>
            </a:r>
            <a:endParaRPr sz="1700">
              <a:latin typeface="Carlito"/>
              <a:cs typeface="Carli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917950" y="2456180"/>
            <a:ext cx="172275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‘Class’ </a:t>
            </a:r>
            <a:r>
              <a:rPr sz="1700" spc="-15" dirty="0">
                <a:solidFill>
                  <a:srgbClr val="FFFFFF"/>
                </a:solidFill>
                <a:latin typeface="Carlito"/>
                <a:cs typeface="Carlito"/>
              </a:rPr>
              <a:t>from</a:t>
            </a:r>
            <a:r>
              <a:rPr sz="1700" spc="-20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700" spc="-15" dirty="0">
                <a:solidFill>
                  <a:srgbClr val="FFFFFF"/>
                </a:solidFill>
                <a:latin typeface="Carlito"/>
                <a:cs typeface="Carlito"/>
              </a:rPr>
              <a:t>dataset</a:t>
            </a:r>
            <a:endParaRPr sz="1700">
              <a:latin typeface="Carlito"/>
              <a:cs typeface="Carlito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822191" y="3375659"/>
            <a:ext cx="1938655" cy="1729739"/>
            <a:chOff x="3822191" y="3375659"/>
            <a:chExt cx="1938655" cy="1729739"/>
          </a:xfrm>
        </p:grpSpPr>
        <p:sp>
          <p:nvSpPr>
            <p:cNvPr id="12" name="object 12"/>
            <p:cNvSpPr/>
            <p:nvPr/>
          </p:nvSpPr>
          <p:spPr>
            <a:xfrm>
              <a:off x="4133087" y="3672839"/>
              <a:ext cx="173990" cy="1432560"/>
            </a:xfrm>
            <a:custGeom>
              <a:avLst/>
              <a:gdLst/>
              <a:ahLst/>
              <a:cxnLst/>
              <a:rect l="l" t="t" r="r" b="b"/>
              <a:pathLst>
                <a:path w="173989" h="1432560">
                  <a:moveTo>
                    <a:pt x="173482" y="0"/>
                  </a:moveTo>
                  <a:lnTo>
                    <a:pt x="0" y="0"/>
                  </a:lnTo>
                  <a:lnTo>
                    <a:pt x="0" y="1432560"/>
                  </a:lnTo>
                  <a:lnTo>
                    <a:pt x="173482" y="1432560"/>
                  </a:lnTo>
                  <a:lnTo>
                    <a:pt x="173482" y="0"/>
                  </a:lnTo>
                  <a:close/>
                </a:path>
              </a:pathLst>
            </a:custGeom>
            <a:solidFill>
              <a:srgbClr val="EDC1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829811" y="3383279"/>
              <a:ext cx="1923414" cy="1155065"/>
            </a:xfrm>
            <a:custGeom>
              <a:avLst/>
              <a:gdLst/>
              <a:ahLst/>
              <a:cxnLst/>
              <a:rect l="l" t="t" r="r" b="b"/>
              <a:pathLst>
                <a:path w="1923414" h="1155064">
                  <a:moveTo>
                    <a:pt x="1807590" y="0"/>
                  </a:moveTo>
                  <a:lnTo>
                    <a:pt x="115570" y="0"/>
                  </a:lnTo>
                  <a:lnTo>
                    <a:pt x="70612" y="9017"/>
                  </a:lnTo>
                  <a:lnTo>
                    <a:pt x="33782" y="33782"/>
                  </a:lnTo>
                  <a:lnTo>
                    <a:pt x="9016" y="70485"/>
                  </a:lnTo>
                  <a:lnTo>
                    <a:pt x="0" y="115570"/>
                  </a:lnTo>
                  <a:lnTo>
                    <a:pt x="0" y="1039114"/>
                  </a:lnTo>
                  <a:lnTo>
                    <a:pt x="9016" y="1084199"/>
                  </a:lnTo>
                  <a:lnTo>
                    <a:pt x="33782" y="1120902"/>
                  </a:lnTo>
                  <a:lnTo>
                    <a:pt x="70612" y="1145667"/>
                  </a:lnTo>
                  <a:lnTo>
                    <a:pt x="115570" y="1154684"/>
                  </a:lnTo>
                  <a:lnTo>
                    <a:pt x="1807590" y="1154684"/>
                  </a:lnTo>
                  <a:lnTo>
                    <a:pt x="1852549" y="1145667"/>
                  </a:lnTo>
                  <a:lnTo>
                    <a:pt x="1889378" y="1120902"/>
                  </a:lnTo>
                  <a:lnTo>
                    <a:pt x="1914143" y="1084199"/>
                  </a:lnTo>
                  <a:lnTo>
                    <a:pt x="1923161" y="1039114"/>
                  </a:lnTo>
                  <a:lnTo>
                    <a:pt x="1923161" y="115570"/>
                  </a:lnTo>
                  <a:lnTo>
                    <a:pt x="1914143" y="70485"/>
                  </a:lnTo>
                  <a:lnTo>
                    <a:pt x="1889378" y="33782"/>
                  </a:lnTo>
                  <a:lnTo>
                    <a:pt x="1852549" y="9017"/>
                  </a:lnTo>
                  <a:lnTo>
                    <a:pt x="1807590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29811" y="3383279"/>
              <a:ext cx="1923414" cy="1155065"/>
            </a:xfrm>
            <a:custGeom>
              <a:avLst/>
              <a:gdLst/>
              <a:ahLst/>
              <a:cxnLst/>
              <a:rect l="l" t="t" r="r" b="b"/>
              <a:pathLst>
                <a:path w="1923414" h="1155064">
                  <a:moveTo>
                    <a:pt x="0" y="115570"/>
                  </a:moveTo>
                  <a:lnTo>
                    <a:pt x="9016" y="70485"/>
                  </a:lnTo>
                  <a:lnTo>
                    <a:pt x="33782" y="33782"/>
                  </a:lnTo>
                  <a:lnTo>
                    <a:pt x="70612" y="9017"/>
                  </a:lnTo>
                  <a:lnTo>
                    <a:pt x="115570" y="0"/>
                  </a:lnTo>
                  <a:lnTo>
                    <a:pt x="1807590" y="0"/>
                  </a:lnTo>
                  <a:lnTo>
                    <a:pt x="1852549" y="9017"/>
                  </a:lnTo>
                  <a:lnTo>
                    <a:pt x="1889378" y="33782"/>
                  </a:lnTo>
                  <a:lnTo>
                    <a:pt x="1914143" y="70485"/>
                  </a:lnTo>
                  <a:lnTo>
                    <a:pt x="1923161" y="115570"/>
                  </a:lnTo>
                  <a:lnTo>
                    <a:pt x="1923161" y="1039114"/>
                  </a:lnTo>
                  <a:lnTo>
                    <a:pt x="1914143" y="1084199"/>
                  </a:lnTo>
                  <a:lnTo>
                    <a:pt x="1889378" y="1120902"/>
                  </a:lnTo>
                  <a:lnTo>
                    <a:pt x="1852549" y="1145667"/>
                  </a:lnTo>
                  <a:lnTo>
                    <a:pt x="1807590" y="1154684"/>
                  </a:lnTo>
                  <a:lnTo>
                    <a:pt x="115570" y="1154684"/>
                  </a:lnTo>
                  <a:lnTo>
                    <a:pt x="70612" y="1145667"/>
                  </a:lnTo>
                  <a:lnTo>
                    <a:pt x="33782" y="1120902"/>
                  </a:lnTo>
                  <a:lnTo>
                    <a:pt x="9016" y="1084199"/>
                  </a:lnTo>
                  <a:lnTo>
                    <a:pt x="0" y="1039114"/>
                  </a:lnTo>
                  <a:lnTo>
                    <a:pt x="0" y="115570"/>
                  </a:lnTo>
                  <a:close/>
                </a:path>
              </a:pathLst>
            </a:custGeom>
            <a:ln w="1524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010914" y="3544315"/>
            <a:ext cx="152463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" dirty="0">
                <a:solidFill>
                  <a:srgbClr val="FFFFFF"/>
                </a:solidFill>
                <a:latin typeface="Carlito"/>
                <a:cs typeface="Carlito"/>
              </a:rPr>
              <a:t>Fit </a:t>
            </a: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and</a:t>
            </a:r>
            <a:r>
              <a:rPr sz="1700" spc="-17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700" spc="-45" dirty="0">
                <a:solidFill>
                  <a:srgbClr val="FFFFFF"/>
                </a:solidFill>
                <a:latin typeface="Carlito"/>
                <a:cs typeface="Carlito"/>
              </a:rPr>
              <a:t>Transform</a:t>
            </a:r>
            <a:endParaRPr sz="1700">
              <a:latin typeface="Carlito"/>
              <a:cs typeface="Carlito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145026" y="3780282"/>
            <a:ext cx="128143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5" dirty="0">
                <a:solidFill>
                  <a:srgbClr val="FFFFFF"/>
                </a:solidFill>
                <a:latin typeface="Carlito"/>
                <a:cs typeface="Carlito"/>
              </a:rPr>
              <a:t>Features</a:t>
            </a:r>
            <a:r>
              <a:rPr sz="1700" spc="-13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using</a:t>
            </a:r>
            <a:endParaRPr sz="1700">
              <a:latin typeface="Carlito"/>
              <a:cs typeface="Carlito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097782" y="4018026"/>
            <a:ext cx="136779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FFFFFF"/>
                </a:solidFill>
                <a:latin typeface="Carlito"/>
                <a:cs typeface="Carlito"/>
              </a:rPr>
              <a:t>Standard</a:t>
            </a:r>
            <a:r>
              <a:rPr sz="1700" spc="-20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700" spc="-5" dirty="0">
                <a:solidFill>
                  <a:srgbClr val="FFFFFF"/>
                </a:solidFill>
                <a:latin typeface="Carlito"/>
                <a:cs typeface="Carlito"/>
              </a:rPr>
              <a:t>Scaler</a:t>
            </a:r>
            <a:endParaRPr sz="1700">
              <a:latin typeface="Carlito"/>
              <a:cs typeface="Carlito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822191" y="4818888"/>
            <a:ext cx="2950845" cy="1169035"/>
            <a:chOff x="3822191" y="4818888"/>
            <a:chExt cx="2950845" cy="1169035"/>
          </a:xfrm>
        </p:grpSpPr>
        <p:sp>
          <p:nvSpPr>
            <p:cNvPr id="19" name="object 19"/>
            <p:cNvSpPr/>
            <p:nvPr/>
          </p:nvSpPr>
          <p:spPr>
            <a:xfrm>
              <a:off x="4224527" y="5023104"/>
              <a:ext cx="2548255" cy="173990"/>
            </a:xfrm>
            <a:custGeom>
              <a:avLst/>
              <a:gdLst/>
              <a:ahLst/>
              <a:cxnLst/>
              <a:rect l="l" t="t" r="r" b="b"/>
              <a:pathLst>
                <a:path w="2548254" h="173989">
                  <a:moveTo>
                    <a:pt x="2548001" y="0"/>
                  </a:moveTo>
                  <a:lnTo>
                    <a:pt x="0" y="0"/>
                  </a:lnTo>
                  <a:lnTo>
                    <a:pt x="0" y="173482"/>
                  </a:lnTo>
                  <a:lnTo>
                    <a:pt x="2548001" y="173482"/>
                  </a:lnTo>
                  <a:lnTo>
                    <a:pt x="2548001" y="0"/>
                  </a:lnTo>
                  <a:close/>
                </a:path>
              </a:pathLst>
            </a:custGeom>
            <a:solidFill>
              <a:srgbClr val="EDC1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829811" y="4826508"/>
              <a:ext cx="1923414" cy="1153795"/>
            </a:xfrm>
            <a:custGeom>
              <a:avLst/>
              <a:gdLst/>
              <a:ahLst/>
              <a:cxnLst/>
              <a:rect l="l" t="t" r="r" b="b"/>
              <a:pathLst>
                <a:path w="1923414" h="1153795">
                  <a:moveTo>
                    <a:pt x="1807845" y="0"/>
                  </a:moveTo>
                  <a:lnTo>
                    <a:pt x="115315" y="0"/>
                  </a:lnTo>
                  <a:lnTo>
                    <a:pt x="70485" y="9017"/>
                  </a:lnTo>
                  <a:lnTo>
                    <a:pt x="33782" y="33782"/>
                  </a:lnTo>
                  <a:lnTo>
                    <a:pt x="9016" y="70485"/>
                  </a:lnTo>
                  <a:lnTo>
                    <a:pt x="0" y="115316"/>
                  </a:lnTo>
                  <a:lnTo>
                    <a:pt x="0" y="1038186"/>
                  </a:lnTo>
                  <a:lnTo>
                    <a:pt x="9016" y="1083081"/>
                  </a:lnTo>
                  <a:lnTo>
                    <a:pt x="33782" y="1119759"/>
                  </a:lnTo>
                  <a:lnTo>
                    <a:pt x="70485" y="1144473"/>
                  </a:lnTo>
                  <a:lnTo>
                    <a:pt x="115315" y="1153541"/>
                  </a:lnTo>
                  <a:lnTo>
                    <a:pt x="1807845" y="1153541"/>
                  </a:lnTo>
                  <a:lnTo>
                    <a:pt x="1852676" y="1144473"/>
                  </a:lnTo>
                  <a:lnTo>
                    <a:pt x="1889378" y="1119759"/>
                  </a:lnTo>
                  <a:lnTo>
                    <a:pt x="1914143" y="1083081"/>
                  </a:lnTo>
                  <a:lnTo>
                    <a:pt x="1923161" y="1038186"/>
                  </a:lnTo>
                  <a:lnTo>
                    <a:pt x="1923161" y="115316"/>
                  </a:lnTo>
                  <a:lnTo>
                    <a:pt x="1914143" y="70485"/>
                  </a:lnTo>
                  <a:lnTo>
                    <a:pt x="1889378" y="33782"/>
                  </a:lnTo>
                  <a:lnTo>
                    <a:pt x="1852676" y="9017"/>
                  </a:lnTo>
                  <a:lnTo>
                    <a:pt x="1807845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829811" y="4826508"/>
              <a:ext cx="1923414" cy="1153795"/>
            </a:xfrm>
            <a:custGeom>
              <a:avLst/>
              <a:gdLst/>
              <a:ahLst/>
              <a:cxnLst/>
              <a:rect l="l" t="t" r="r" b="b"/>
              <a:pathLst>
                <a:path w="1923414" h="1153795">
                  <a:moveTo>
                    <a:pt x="0" y="115316"/>
                  </a:moveTo>
                  <a:lnTo>
                    <a:pt x="9016" y="70485"/>
                  </a:lnTo>
                  <a:lnTo>
                    <a:pt x="33782" y="33782"/>
                  </a:lnTo>
                  <a:lnTo>
                    <a:pt x="70485" y="9017"/>
                  </a:lnTo>
                  <a:lnTo>
                    <a:pt x="115315" y="0"/>
                  </a:lnTo>
                  <a:lnTo>
                    <a:pt x="1807845" y="0"/>
                  </a:lnTo>
                  <a:lnTo>
                    <a:pt x="1852676" y="9017"/>
                  </a:lnTo>
                  <a:lnTo>
                    <a:pt x="1889378" y="33782"/>
                  </a:lnTo>
                  <a:lnTo>
                    <a:pt x="1914143" y="70485"/>
                  </a:lnTo>
                  <a:lnTo>
                    <a:pt x="1923161" y="115316"/>
                  </a:lnTo>
                  <a:lnTo>
                    <a:pt x="1923161" y="1038186"/>
                  </a:lnTo>
                  <a:lnTo>
                    <a:pt x="1914143" y="1083081"/>
                  </a:lnTo>
                  <a:lnTo>
                    <a:pt x="1889378" y="1119759"/>
                  </a:lnTo>
                  <a:lnTo>
                    <a:pt x="1852676" y="1144473"/>
                  </a:lnTo>
                  <a:lnTo>
                    <a:pt x="1807845" y="1153541"/>
                  </a:lnTo>
                  <a:lnTo>
                    <a:pt x="115315" y="1153541"/>
                  </a:lnTo>
                  <a:lnTo>
                    <a:pt x="70485" y="1144473"/>
                  </a:lnTo>
                  <a:lnTo>
                    <a:pt x="33782" y="1119759"/>
                  </a:lnTo>
                  <a:lnTo>
                    <a:pt x="9016" y="1083081"/>
                  </a:lnTo>
                  <a:lnTo>
                    <a:pt x="0" y="1038186"/>
                  </a:lnTo>
                  <a:lnTo>
                    <a:pt x="0" y="115316"/>
                  </a:lnTo>
                  <a:close/>
                </a:path>
              </a:pathLst>
            </a:custGeom>
            <a:ln w="1524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103878" y="5104841"/>
            <a:ext cx="134493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30" dirty="0">
                <a:solidFill>
                  <a:srgbClr val="FFFFFF"/>
                </a:solidFill>
                <a:latin typeface="Carlito"/>
                <a:cs typeface="Carlito"/>
              </a:rPr>
              <a:t>Train_test_split</a:t>
            </a:r>
            <a:endParaRPr sz="1700">
              <a:latin typeface="Carlito"/>
              <a:cs typeface="Carlito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583938" y="5341747"/>
            <a:ext cx="41148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d</a:t>
            </a:r>
            <a:r>
              <a:rPr sz="1700" spc="-25" dirty="0">
                <a:solidFill>
                  <a:srgbClr val="FFFFFF"/>
                </a:solidFill>
                <a:latin typeface="Carlito"/>
                <a:cs typeface="Carlito"/>
              </a:rPr>
              <a:t>a</a:t>
            </a:r>
            <a:r>
              <a:rPr sz="1700" spc="-45" dirty="0">
                <a:solidFill>
                  <a:srgbClr val="FFFFFF"/>
                </a:solidFill>
                <a:latin typeface="Carlito"/>
                <a:cs typeface="Carlito"/>
              </a:rPr>
              <a:t>t</a:t>
            </a: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a</a:t>
            </a:r>
            <a:endParaRPr sz="1700">
              <a:latin typeface="Carlito"/>
              <a:cs typeface="Carlito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6380988" y="3672840"/>
            <a:ext cx="1938655" cy="2315210"/>
            <a:chOff x="6380988" y="3672840"/>
            <a:chExt cx="1938655" cy="2315210"/>
          </a:xfrm>
        </p:grpSpPr>
        <p:sp>
          <p:nvSpPr>
            <p:cNvPr id="25" name="object 25"/>
            <p:cNvSpPr/>
            <p:nvPr/>
          </p:nvSpPr>
          <p:spPr>
            <a:xfrm>
              <a:off x="6691884" y="3672840"/>
              <a:ext cx="172085" cy="1432560"/>
            </a:xfrm>
            <a:custGeom>
              <a:avLst/>
              <a:gdLst/>
              <a:ahLst/>
              <a:cxnLst/>
              <a:rect l="l" t="t" r="r" b="b"/>
              <a:pathLst>
                <a:path w="172084" h="1432560">
                  <a:moveTo>
                    <a:pt x="171703" y="0"/>
                  </a:moveTo>
                  <a:lnTo>
                    <a:pt x="0" y="0"/>
                  </a:lnTo>
                  <a:lnTo>
                    <a:pt x="0" y="1432560"/>
                  </a:lnTo>
                  <a:lnTo>
                    <a:pt x="171703" y="1432560"/>
                  </a:lnTo>
                  <a:lnTo>
                    <a:pt x="171703" y="0"/>
                  </a:lnTo>
                  <a:close/>
                </a:path>
              </a:pathLst>
            </a:custGeom>
            <a:solidFill>
              <a:srgbClr val="EDC1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388608" y="4826508"/>
              <a:ext cx="1923414" cy="1153795"/>
            </a:xfrm>
            <a:custGeom>
              <a:avLst/>
              <a:gdLst/>
              <a:ahLst/>
              <a:cxnLst/>
              <a:rect l="l" t="t" r="r" b="b"/>
              <a:pathLst>
                <a:path w="1923415" h="1153795">
                  <a:moveTo>
                    <a:pt x="1807844" y="0"/>
                  </a:moveTo>
                  <a:lnTo>
                    <a:pt x="115315" y="0"/>
                  </a:lnTo>
                  <a:lnTo>
                    <a:pt x="70484" y="9017"/>
                  </a:lnTo>
                  <a:lnTo>
                    <a:pt x="33781" y="33782"/>
                  </a:lnTo>
                  <a:lnTo>
                    <a:pt x="9016" y="70485"/>
                  </a:lnTo>
                  <a:lnTo>
                    <a:pt x="0" y="115316"/>
                  </a:lnTo>
                  <a:lnTo>
                    <a:pt x="0" y="1038186"/>
                  </a:lnTo>
                  <a:lnTo>
                    <a:pt x="9016" y="1083081"/>
                  </a:lnTo>
                  <a:lnTo>
                    <a:pt x="33781" y="1119759"/>
                  </a:lnTo>
                  <a:lnTo>
                    <a:pt x="70484" y="1144473"/>
                  </a:lnTo>
                  <a:lnTo>
                    <a:pt x="115315" y="1153541"/>
                  </a:lnTo>
                  <a:lnTo>
                    <a:pt x="1807844" y="1153541"/>
                  </a:lnTo>
                  <a:lnTo>
                    <a:pt x="1852675" y="1144473"/>
                  </a:lnTo>
                  <a:lnTo>
                    <a:pt x="1889378" y="1119759"/>
                  </a:lnTo>
                  <a:lnTo>
                    <a:pt x="1914143" y="1083081"/>
                  </a:lnTo>
                  <a:lnTo>
                    <a:pt x="1923161" y="1038186"/>
                  </a:lnTo>
                  <a:lnTo>
                    <a:pt x="1923161" y="115316"/>
                  </a:lnTo>
                  <a:lnTo>
                    <a:pt x="1914143" y="70485"/>
                  </a:lnTo>
                  <a:lnTo>
                    <a:pt x="1889378" y="33782"/>
                  </a:lnTo>
                  <a:lnTo>
                    <a:pt x="1852675" y="9017"/>
                  </a:lnTo>
                  <a:lnTo>
                    <a:pt x="1807844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388608" y="4826508"/>
              <a:ext cx="1923414" cy="1153795"/>
            </a:xfrm>
            <a:custGeom>
              <a:avLst/>
              <a:gdLst/>
              <a:ahLst/>
              <a:cxnLst/>
              <a:rect l="l" t="t" r="r" b="b"/>
              <a:pathLst>
                <a:path w="1923415" h="1153795">
                  <a:moveTo>
                    <a:pt x="0" y="115316"/>
                  </a:moveTo>
                  <a:lnTo>
                    <a:pt x="9016" y="70485"/>
                  </a:lnTo>
                  <a:lnTo>
                    <a:pt x="33781" y="33782"/>
                  </a:lnTo>
                  <a:lnTo>
                    <a:pt x="70484" y="9017"/>
                  </a:lnTo>
                  <a:lnTo>
                    <a:pt x="115315" y="0"/>
                  </a:lnTo>
                  <a:lnTo>
                    <a:pt x="1807844" y="0"/>
                  </a:lnTo>
                  <a:lnTo>
                    <a:pt x="1852675" y="9017"/>
                  </a:lnTo>
                  <a:lnTo>
                    <a:pt x="1889378" y="33782"/>
                  </a:lnTo>
                  <a:lnTo>
                    <a:pt x="1914143" y="70485"/>
                  </a:lnTo>
                  <a:lnTo>
                    <a:pt x="1923161" y="115316"/>
                  </a:lnTo>
                  <a:lnTo>
                    <a:pt x="1923161" y="1038186"/>
                  </a:lnTo>
                  <a:lnTo>
                    <a:pt x="1914143" y="1083081"/>
                  </a:lnTo>
                  <a:lnTo>
                    <a:pt x="1889378" y="1119759"/>
                  </a:lnTo>
                  <a:lnTo>
                    <a:pt x="1852675" y="1144473"/>
                  </a:lnTo>
                  <a:lnTo>
                    <a:pt x="1807844" y="1153541"/>
                  </a:lnTo>
                  <a:lnTo>
                    <a:pt x="115315" y="1153541"/>
                  </a:lnTo>
                  <a:lnTo>
                    <a:pt x="70484" y="1144473"/>
                  </a:lnTo>
                  <a:lnTo>
                    <a:pt x="33781" y="1119759"/>
                  </a:lnTo>
                  <a:lnTo>
                    <a:pt x="9016" y="1083081"/>
                  </a:lnTo>
                  <a:lnTo>
                    <a:pt x="0" y="1038186"/>
                  </a:lnTo>
                  <a:lnTo>
                    <a:pt x="0" y="115316"/>
                  </a:lnTo>
                  <a:close/>
                </a:path>
              </a:pathLst>
            </a:custGeom>
            <a:ln w="1524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6735826" y="4986909"/>
            <a:ext cx="121983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FFFFFF"/>
                </a:solidFill>
                <a:latin typeface="Carlito"/>
                <a:cs typeface="Carlito"/>
              </a:rPr>
              <a:t>GridSearchCV</a:t>
            </a:r>
            <a:endParaRPr sz="1700">
              <a:latin typeface="Carlito"/>
              <a:cs typeface="Carlito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485890" y="5217033"/>
            <a:ext cx="1732280" cy="53975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700" marR="5080" indent="223520">
              <a:lnSpc>
                <a:spcPts val="2000"/>
              </a:lnSpc>
              <a:spcBef>
                <a:spcPts val="200"/>
              </a:spcBef>
            </a:pPr>
            <a:r>
              <a:rPr sz="1700" spc="-5" dirty="0">
                <a:solidFill>
                  <a:srgbClr val="FFFFFF"/>
                </a:solidFill>
                <a:latin typeface="Carlito"/>
                <a:cs typeface="Carlito"/>
              </a:rPr>
              <a:t>(cv=10) to find  optimal</a:t>
            </a:r>
            <a:r>
              <a:rPr sz="1700" spc="-15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700" spc="-20" dirty="0">
                <a:solidFill>
                  <a:srgbClr val="FFFFFF"/>
                </a:solidFill>
                <a:latin typeface="Carlito"/>
                <a:cs typeface="Carlito"/>
              </a:rPr>
              <a:t>parameters</a:t>
            </a:r>
            <a:endParaRPr sz="1700">
              <a:latin typeface="Carlito"/>
              <a:cs typeface="Carlito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6380988" y="2229611"/>
            <a:ext cx="1938655" cy="2316480"/>
            <a:chOff x="6380988" y="2229611"/>
            <a:chExt cx="1938655" cy="2316480"/>
          </a:xfrm>
        </p:grpSpPr>
        <p:sp>
          <p:nvSpPr>
            <p:cNvPr id="31" name="object 31"/>
            <p:cNvSpPr/>
            <p:nvPr/>
          </p:nvSpPr>
          <p:spPr>
            <a:xfrm>
              <a:off x="6691884" y="2229611"/>
              <a:ext cx="172085" cy="1432560"/>
            </a:xfrm>
            <a:custGeom>
              <a:avLst/>
              <a:gdLst/>
              <a:ahLst/>
              <a:cxnLst/>
              <a:rect l="l" t="t" r="r" b="b"/>
              <a:pathLst>
                <a:path w="172084" h="1432560">
                  <a:moveTo>
                    <a:pt x="171703" y="0"/>
                  </a:moveTo>
                  <a:lnTo>
                    <a:pt x="0" y="0"/>
                  </a:lnTo>
                  <a:lnTo>
                    <a:pt x="0" y="1432560"/>
                  </a:lnTo>
                  <a:lnTo>
                    <a:pt x="171703" y="1432560"/>
                  </a:lnTo>
                  <a:lnTo>
                    <a:pt x="171703" y="0"/>
                  </a:lnTo>
                  <a:close/>
                </a:path>
              </a:pathLst>
            </a:custGeom>
            <a:solidFill>
              <a:srgbClr val="EDC1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388608" y="3383279"/>
              <a:ext cx="1923414" cy="1155065"/>
            </a:xfrm>
            <a:custGeom>
              <a:avLst/>
              <a:gdLst/>
              <a:ahLst/>
              <a:cxnLst/>
              <a:rect l="l" t="t" r="r" b="b"/>
              <a:pathLst>
                <a:path w="1923415" h="1155064">
                  <a:moveTo>
                    <a:pt x="1807590" y="0"/>
                  </a:moveTo>
                  <a:lnTo>
                    <a:pt x="115569" y="0"/>
                  </a:lnTo>
                  <a:lnTo>
                    <a:pt x="70612" y="9017"/>
                  </a:lnTo>
                  <a:lnTo>
                    <a:pt x="33781" y="33782"/>
                  </a:lnTo>
                  <a:lnTo>
                    <a:pt x="9016" y="70485"/>
                  </a:lnTo>
                  <a:lnTo>
                    <a:pt x="0" y="115570"/>
                  </a:lnTo>
                  <a:lnTo>
                    <a:pt x="0" y="1039114"/>
                  </a:lnTo>
                  <a:lnTo>
                    <a:pt x="9016" y="1084199"/>
                  </a:lnTo>
                  <a:lnTo>
                    <a:pt x="33781" y="1120902"/>
                  </a:lnTo>
                  <a:lnTo>
                    <a:pt x="70612" y="1145667"/>
                  </a:lnTo>
                  <a:lnTo>
                    <a:pt x="115569" y="1154684"/>
                  </a:lnTo>
                  <a:lnTo>
                    <a:pt x="1807590" y="1154684"/>
                  </a:lnTo>
                  <a:lnTo>
                    <a:pt x="1852548" y="1145667"/>
                  </a:lnTo>
                  <a:lnTo>
                    <a:pt x="1889378" y="1120902"/>
                  </a:lnTo>
                  <a:lnTo>
                    <a:pt x="1914143" y="1084199"/>
                  </a:lnTo>
                  <a:lnTo>
                    <a:pt x="1923161" y="1039114"/>
                  </a:lnTo>
                  <a:lnTo>
                    <a:pt x="1923161" y="115570"/>
                  </a:lnTo>
                  <a:lnTo>
                    <a:pt x="1914143" y="70485"/>
                  </a:lnTo>
                  <a:lnTo>
                    <a:pt x="1889378" y="33782"/>
                  </a:lnTo>
                  <a:lnTo>
                    <a:pt x="1852548" y="9017"/>
                  </a:lnTo>
                  <a:lnTo>
                    <a:pt x="1807590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388608" y="3383279"/>
              <a:ext cx="1923414" cy="1155065"/>
            </a:xfrm>
            <a:custGeom>
              <a:avLst/>
              <a:gdLst/>
              <a:ahLst/>
              <a:cxnLst/>
              <a:rect l="l" t="t" r="r" b="b"/>
              <a:pathLst>
                <a:path w="1923415" h="1155064">
                  <a:moveTo>
                    <a:pt x="0" y="115570"/>
                  </a:moveTo>
                  <a:lnTo>
                    <a:pt x="9016" y="70485"/>
                  </a:lnTo>
                  <a:lnTo>
                    <a:pt x="33781" y="33782"/>
                  </a:lnTo>
                  <a:lnTo>
                    <a:pt x="70612" y="9017"/>
                  </a:lnTo>
                  <a:lnTo>
                    <a:pt x="115569" y="0"/>
                  </a:lnTo>
                  <a:lnTo>
                    <a:pt x="1807590" y="0"/>
                  </a:lnTo>
                  <a:lnTo>
                    <a:pt x="1852548" y="9017"/>
                  </a:lnTo>
                  <a:lnTo>
                    <a:pt x="1889378" y="33782"/>
                  </a:lnTo>
                  <a:lnTo>
                    <a:pt x="1914143" y="70485"/>
                  </a:lnTo>
                  <a:lnTo>
                    <a:pt x="1923161" y="115570"/>
                  </a:lnTo>
                  <a:lnTo>
                    <a:pt x="1923161" y="1039114"/>
                  </a:lnTo>
                  <a:lnTo>
                    <a:pt x="1914143" y="1084199"/>
                  </a:lnTo>
                  <a:lnTo>
                    <a:pt x="1889378" y="1120902"/>
                  </a:lnTo>
                  <a:lnTo>
                    <a:pt x="1852548" y="1145667"/>
                  </a:lnTo>
                  <a:lnTo>
                    <a:pt x="1807590" y="1154684"/>
                  </a:lnTo>
                  <a:lnTo>
                    <a:pt x="115569" y="1154684"/>
                  </a:lnTo>
                  <a:lnTo>
                    <a:pt x="70612" y="1145667"/>
                  </a:lnTo>
                  <a:lnTo>
                    <a:pt x="33781" y="1120902"/>
                  </a:lnTo>
                  <a:lnTo>
                    <a:pt x="9016" y="1084199"/>
                  </a:lnTo>
                  <a:lnTo>
                    <a:pt x="0" y="1039114"/>
                  </a:lnTo>
                  <a:lnTo>
                    <a:pt x="0" y="115570"/>
                  </a:lnTo>
                  <a:close/>
                </a:path>
              </a:pathLst>
            </a:custGeom>
            <a:ln w="1524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6546595" y="3425444"/>
            <a:ext cx="159385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Use</a:t>
            </a:r>
            <a:r>
              <a:rPr sz="1700" spc="-10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Carlito"/>
                <a:cs typeface="Carlito"/>
              </a:rPr>
              <a:t>GridSearchCV</a:t>
            </a:r>
            <a:endParaRPr sz="1700">
              <a:latin typeface="Carlito"/>
              <a:cs typeface="Carlito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602983" y="3661028"/>
            <a:ext cx="148399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on LogReg,</a:t>
            </a:r>
            <a:r>
              <a:rPr sz="1700" spc="-20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700" spc="-5" dirty="0">
                <a:solidFill>
                  <a:srgbClr val="FFFFFF"/>
                </a:solidFill>
                <a:latin typeface="Carlito"/>
                <a:cs typeface="Carlito"/>
              </a:rPr>
              <a:t>SVM,</a:t>
            </a:r>
            <a:endParaRPr sz="1700">
              <a:latin typeface="Carlito"/>
              <a:cs typeface="Carlito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535928" y="3899408"/>
            <a:ext cx="160274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Decision </a:t>
            </a:r>
            <a:r>
              <a:rPr sz="1700" spc="-45" dirty="0">
                <a:solidFill>
                  <a:srgbClr val="FFFFFF"/>
                </a:solidFill>
                <a:latin typeface="Carlito"/>
                <a:cs typeface="Carlito"/>
              </a:rPr>
              <a:t>Tree,</a:t>
            </a:r>
            <a:r>
              <a:rPr sz="1700" spc="-23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and</a:t>
            </a:r>
            <a:endParaRPr sz="1700">
              <a:latin typeface="Carlito"/>
              <a:cs typeface="Carlito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795261" y="4135627"/>
            <a:ext cx="110045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KNN</a:t>
            </a:r>
            <a:r>
              <a:rPr sz="1700" spc="-14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models</a:t>
            </a:r>
            <a:endParaRPr sz="1700">
              <a:latin typeface="Carlito"/>
              <a:cs typeface="Carlito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6380988" y="1933955"/>
            <a:ext cx="2950845" cy="1169035"/>
            <a:chOff x="6380988" y="1933955"/>
            <a:chExt cx="2950845" cy="1169035"/>
          </a:xfrm>
        </p:grpSpPr>
        <p:sp>
          <p:nvSpPr>
            <p:cNvPr id="39" name="object 39"/>
            <p:cNvSpPr/>
            <p:nvPr/>
          </p:nvSpPr>
          <p:spPr>
            <a:xfrm>
              <a:off x="6783324" y="2138171"/>
              <a:ext cx="2548255" cy="173990"/>
            </a:xfrm>
            <a:custGeom>
              <a:avLst/>
              <a:gdLst/>
              <a:ahLst/>
              <a:cxnLst/>
              <a:rect l="l" t="t" r="r" b="b"/>
              <a:pathLst>
                <a:path w="2548254" h="173989">
                  <a:moveTo>
                    <a:pt x="2548001" y="0"/>
                  </a:moveTo>
                  <a:lnTo>
                    <a:pt x="0" y="0"/>
                  </a:lnTo>
                  <a:lnTo>
                    <a:pt x="0" y="173482"/>
                  </a:lnTo>
                  <a:lnTo>
                    <a:pt x="2548001" y="173482"/>
                  </a:lnTo>
                  <a:lnTo>
                    <a:pt x="2548001" y="0"/>
                  </a:lnTo>
                  <a:close/>
                </a:path>
              </a:pathLst>
            </a:custGeom>
            <a:solidFill>
              <a:srgbClr val="EDC1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388608" y="1941575"/>
              <a:ext cx="1923414" cy="1153795"/>
            </a:xfrm>
            <a:custGeom>
              <a:avLst/>
              <a:gdLst/>
              <a:ahLst/>
              <a:cxnLst/>
              <a:rect l="l" t="t" r="r" b="b"/>
              <a:pathLst>
                <a:path w="1923415" h="1153795">
                  <a:moveTo>
                    <a:pt x="1807844" y="0"/>
                  </a:moveTo>
                  <a:lnTo>
                    <a:pt x="115315" y="0"/>
                  </a:lnTo>
                  <a:lnTo>
                    <a:pt x="70484" y="9016"/>
                  </a:lnTo>
                  <a:lnTo>
                    <a:pt x="33781" y="33782"/>
                  </a:lnTo>
                  <a:lnTo>
                    <a:pt x="9016" y="70485"/>
                  </a:lnTo>
                  <a:lnTo>
                    <a:pt x="0" y="115315"/>
                  </a:lnTo>
                  <a:lnTo>
                    <a:pt x="0" y="1038225"/>
                  </a:lnTo>
                  <a:lnTo>
                    <a:pt x="9016" y="1083056"/>
                  </a:lnTo>
                  <a:lnTo>
                    <a:pt x="33781" y="1119759"/>
                  </a:lnTo>
                  <a:lnTo>
                    <a:pt x="70484" y="1144524"/>
                  </a:lnTo>
                  <a:lnTo>
                    <a:pt x="115315" y="1153540"/>
                  </a:lnTo>
                  <a:lnTo>
                    <a:pt x="1807844" y="1153540"/>
                  </a:lnTo>
                  <a:lnTo>
                    <a:pt x="1852675" y="1144524"/>
                  </a:lnTo>
                  <a:lnTo>
                    <a:pt x="1889378" y="1119759"/>
                  </a:lnTo>
                  <a:lnTo>
                    <a:pt x="1914143" y="1083056"/>
                  </a:lnTo>
                  <a:lnTo>
                    <a:pt x="1923161" y="1038225"/>
                  </a:lnTo>
                  <a:lnTo>
                    <a:pt x="1923161" y="115315"/>
                  </a:lnTo>
                  <a:lnTo>
                    <a:pt x="1914143" y="70485"/>
                  </a:lnTo>
                  <a:lnTo>
                    <a:pt x="1889378" y="33782"/>
                  </a:lnTo>
                  <a:lnTo>
                    <a:pt x="1852675" y="9016"/>
                  </a:lnTo>
                  <a:lnTo>
                    <a:pt x="1807844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388608" y="1941575"/>
              <a:ext cx="1923414" cy="1153795"/>
            </a:xfrm>
            <a:custGeom>
              <a:avLst/>
              <a:gdLst/>
              <a:ahLst/>
              <a:cxnLst/>
              <a:rect l="l" t="t" r="r" b="b"/>
              <a:pathLst>
                <a:path w="1923415" h="1153795">
                  <a:moveTo>
                    <a:pt x="0" y="115315"/>
                  </a:moveTo>
                  <a:lnTo>
                    <a:pt x="9016" y="70485"/>
                  </a:lnTo>
                  <a:lnTo>
                    <a:pt x="33781" y="33782"/>
                  </a:lnTo>
                  <a:lnTo>
                    <a:pt x="70484" y="9016"/>
                  </a:lnTo>
                  <a:lnTo>
                    <a:pt x="115315" y="0"/>
                  </a:lnTo>
                  <a:lnTo>
                    <a:pt x="1807844" y="0"/>
                  </a:lnTo>
                  <a:lnTo>
                    <a:pt x="1852675" y="9016"/>
                  </a:lnTo>
                  <a:lnTo>
                    <a:pt x="1889378" y="33782"/>
                  </a:lnTo>
                  <a:lnTo>
                    <a:pt x="1914143" y="70485"/>
                  </a:lnTo>
                  <a:lnTo>
                    <a:pt x="1923161" y="115315"/>
                  </a:lnTo>
                  <a:lnTo>
                    <a:pt x="1923161" y="1038225"/>
                  </a:lnTo>
                  <a:lnTo>
                    <a:pt x="1914143" y="1083056"/>
                  </a:lnTo>
                  <a:lnTo>
                    <a:pt x="1889378" y="1119759"/>
                  </a:lnTo>
                  <a:lnTo>
                    <a:pt x="1852675" y="1144524"/>
                  </a:lnTo>
                  <a:lnTo>
                    <a:pt x="1807844" y="1153540"/>
                  </a:lnTo>
                  <a:lnTo>
                    <a:pt x="115315" y="1153540"/>
                  </a:lnTo>
                  <a:lnTo>
                    <a:pt x="70484" y="1144524"/>
                  </a:lnTo>
                  <a:lnTo>
                    <a:pt x="33781" y="1119759"/>
                  </a:lnTo>
                  <a:lnTo>
                    <a:pt x="9016" y="1083056"/>
                  </a:lnTo>
                  <a:lnTo>
                    <a:pt x="0" y="1038225"/>
                  </a:lnTo>
                  <a:lnTo>
                    <a:pt x="0" y="115315"/>
                  </a:lnTo>
                  <a:close/>
                </a:path>
              </a:pathLst>
            </a:custGeom>
            <a:ln w="1524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6613906" y="2219960"/>
            <a:ext cx="145542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20" dirty="0">
                <a:solidFill>
                  <a:srgbClr val="FFFFFF"/>
                </a:solidFill>
                <a:latin typeface="Carlito"/>
                <a:cs typeface="Carlito"/>
              </a:rPr>
              <a:t>Score </a:t>
            </a: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models</a:t>
            </a:r>
            <a:r>
              <a:rPr sz="1700" spc="-18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on</a:t>
            </a:r>
            <a:endParaRPr sz="1700">
              <a:latin typeface="Carlito"/>
              <a:cs typeface="Carlito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805930" y="2456180"/>
            <a:ext cx="107188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split </a:t>
            </a:r>
            <a:r>
              <a:rPr sz="1700" spc="-20" dirty="0">
                <a:solidFill>
                  <a:srgbClr val="FFFFFF"/>
                </a:solidFill>
                <a:latin typeface="Carlito"/>
                <a:cs typeface="Carlito"/>
              </a:rPr>
              <a:t>test</a:t>
            </a:r>
            <a:r>
              <a:rPr sz="1700" spc="-19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700" spc="-5" dirty="0">
                <a:solidFill>
                  <a:srgbClr val="FFFFFF"/>
                </a:solidFill>
                <a:latin typeface="Carlito"/>
                <a:cs typeface="Carlito"/>
              </a:rPr>
              <a:t>set</a:t>
            </a:r>
            <a:endParaRPr sz="1700">
              <a:latin typeface="Carlito"/>
              <a:cs typeface="Carlito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8938259" y="1933955"/>
            <a:ext cx="1938655" cy="1728470"/>
            <a:chOff x="8938259" y="1933955"/>
            <a:chExt cx="1938655" cy="1728470"/>
          </a:xfrm>
        </p:grpSpPr>
        <p:sp>
          <p:nvSpPr>
            <p:cNvPr id="45" name="object 45"/>
            <p:cNvSpPr/>
            <p:nvPr/>
          </p:nvSpPr>
          <p:spPr>
            <a:xfrm>
              <a:off x="9249155" y="2229611"/>
              <a:ext cx="173990" cy="1432560"/>
            </a:xfrm>
            <a:custGeom>
              <a:avLst/>
              <a:gdLst/>
              <a:ahLst/>
              <a:cxnLst/>
              <a:rect l="l" t="t" r="r" b="b"/>
              <a:pathLst>
                <a:path w="173990" h="1432560">
                  <a:moveTo>
                    <a:pt x="173481" y="0"/>
                  </a:moveTo>
                  <a:lnTo>
                    <a:pt x="0" y="0"/>
                  </a:lnTo>
                  <a:lnTo>
                    <a:pt x="0" y="1432560"/>
                  </a:lnTo>
                  <a:lnTo>
                    <a:pt x="173481" y="1432560"/>
                  </a:lnTo>
                  <a:lnTo>
                    <a:pt x="173481" y="0"/>
                  </a:lnTo>
                  <a:close/>
                </a:path>
              </a:pathLst>
            </a:custGeom>
            <a:solidFill>
              <a:srgbClr val="EDC1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8945879" y="1941575"/>
              <a:ext cx="1923414" cy="1153795"/>
            </a:xfrm>
            <a:custGeom>
              <a:avLst/>
              <a:gdLst/>
              <a:ahLst/>
              <a:cxnLst/>
              <a:rect l="l" t="t" r="r" b="b"/>
              <a:pathLst>
                <a:path w="1923415" h="1153795">
                  <a:moveTo>
                    <a:pt x="1807845" y="0"/>
                  </a:moveTo>
                  <a:lnTo>
                    <a:pt x="115316" y="0"/>
                  </a:lnTo>
                  <a:lnTo>
                    <a:pt x="70485" y="9016"/>
                  </a:lnTo>
                  <a:lnTo>
                    <a:pt x="33781" y="33782"/>
                  </a:lnTo>
                  <a:lnTo>
                    <a:pt x="9017" y="70485"/>
                  </a:lnTo>
                  <a:lnTo>
                    <a:pt x="0" y="115315"/>
                  </a:lnTo>
                  <a:lnTo>
                    <a:pt x="0" y="1038225"/>
                  </a:lnTo>
                  <a:lnTo>
                    <a:pt x="9017" y="1083056"/>
                  </a:lnTo>
                  <a:lnTo>
                    <a:pt x="33781" y="1119759"/>
                  </a:lnTo>
                  <a:lnTo>
                    <a:pt x="70485" y="1144524"/>
                  </a:lnTo>
                  <a:lnTo>
                    <a:pt x="115316" y="1153540"/>
                  </a:lnTo>
                  <a:lnTo>
                    <a:pt x="1807845" y="1153540"/>
                  </a:lnTo>
                  <a:lnTo>
                    <a:pt x="1852676" y="1144524"/>
                  </a:lnTo>
                  <a:lnTo>
                    <a:pt x="1889378" y="1119759"/>
                  </a:lnTo>
                  <a:lnTo>
                    <a:pt x="1914144" y="1083056"/>
                  </a:lnTo>
                  <a:lnTo>
                    <a:pt x="1923161" y="1038225"/>
                  </a:lnTo>
                  <a:lnTo>
                    <a:pt x="1923161" y="115315"/>
                  </a:lnTo>
                  <a:lnTo>
                    <a:pt x="1914144" y="70485"/>
                  </a:lnTo>
                  <a:lnTo>
                    <a:pt x="1889378" y="33782"/>
                  </a:lnTo>
                  <a:lnTo>
                    <a:pt x="1852676" y="9016"/>
                  </a:lnTo>
                  <a:lnTo>
                    <a:pt x="1807845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8945879" y="1941575"/>
              <a:ext cx="1923414" cy="1153795"/>
            </a:xfrm>
            <a:custGeom>
              <a:avLst/>
              <a:gdLst/>
              <a:ahLst/>
              <a:cxnLst/>
              <a:rect l="l" t="t" r="r" b="b"/>
              <a:pathLst>
                <a:path w="1923415" h="1153795">
                  <a:moveTo>
                    <a:pt x="0" y="115315"/>
                  </a:moveTo>
                  <a:lnTo>
                    <a:pt x="9017" y="70485"/>
                  </a:lnTo>
                  <a:lnTo>
                    <a:pt x="33781" y="33782"/>
                  </a:lnTo>
                  <a:lnTo>
                    <a:pt x="70485" y="9016"/>
                  </a:lnTo>
                  <a:lnTo>
                    <a:pt x="115316" y="0"/>
                  </a:lnTo>
                  <a:lnTo>
                    <a:pt x="1807845" y="0"/>
                  </a:lnTo>
                  <a:lnTo>
                    <a:pt x="1852676" y="9016"/>
                  </a:lnTo>
                  <a:lnTo>
                    <a:pt x="1889378" y="33782"/>
                  </a:lnTo>
                  <a:lnTo>
                    <a:pt x="1914144" y="70485"/>
                  </a:lnTo>
                  <a:lnTo>
                    <a:pt x="1923161" y="115315"/>
                  </a:lnTo>
                  <a:lnTo>
                    <a:pt x="1923161" y="1038225"/>
                  </a:lnTo>
                  <a:lnTo>
                    <a:pt x="1914144" y="1083056"/>
                  </a:lnTo>
                  <a:lnTo>
                    <a:pt x="1889378" y="1119759"/>
                  </a:lnTo>
                  <a:lnTo>
                    <a:pt x="1852676" y="1144524"/>
                  </a:lnTo>
                  <a:lnTo>
                    <a:pt x="1807845" y="1153540"/>
                  </a:lnTo>
                  <a:lnTo>
                    <a:pt x="115316" y="1153540"/>
                  </a:lnTo>
                  <a:lnTo>
                    <a:pt x="70485" y="1144524"/>
                  </a:lnTo>
                  <a:lnTo>
                    <a:pt x="33781" y="1119759"/>
                  </a:lnTo>
                  <a:lnTo>
                    <a:pt x="9017" y="1083056"/>
                  </a:lnTo>
                  <a:lnTo>
                    <a:pt x="0" y="1038225"/>
                  </a:lnTo>
                  <a:lnTo>
                    <a:pt x="0" y="115315"/>
                  </a:lnTo>
                  <a:close/>
                </a:path>
              </a:pathLst>
            </a:custGeom>
            <a:ln w="1524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9140697" y="2219960"/>
            <a:ext cx="151955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" dirty="0">
                <a:solidFill>
                  <a:srgbClr val="FFFFFF"/>
                </a:solidFill>
                <a:latin typeface="Carlito"/>
                <a:cs typeface="Carlito"/>
              </a:rPr>
              <a:t>Confusion</a:t>
            </a:r>
            <a:r>
              <a:rPr sz="1700" spc="-17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700" spc="-5" dirty="0">
                <a:solidFill>
                  <a:srgbClr val="FFFFFF"/>
                </a:solidFill>
                <a:latin typeface="Carlito"/>
                <a:cs typeface="Carlito"/>
              </a:rPr>
              <a:t>Matrix</a:t>
            </a:r>
            <a:endParaRPr sz="1700">
              <a:latin typeface="Carlito"/>
              <a:cs typeface="Carlito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9299193" y="2456180"/>
            <a:ext cx="120269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25" dirty="0">
                <a:solidFill>
                  <a:srgbClr val="FFFFFF"/>
                </a:solidFill>
                <a:latin typeface="Carlito"/>
                <a:cs typeface="Carlito"/>
              </a:rPr>
              <a:t>for </a:t>
            </a: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all</a:t>
            </a:r>
            <a:r>
              <a:rPr sz="1700" spc="-16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models</a:t>
            </a:r>
            <a:endParaRPr sz="1700">
              <a:latin typeface="Carlito"/>
              <a:cs typeface="Carlito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8938259" y="3375659"/>
            <a:ext cx="1938655" cy="1170305"/>
            <a:chOff x="8938259" y="3375659"/>
            <a:chExt cx="1938655" cy="1170305"/>
          </a:xfrm>
        </p:grpSpPr>
        <p:sp>
          <p:nvSpPr>
            <p:cNvPr id="51" name="object 51"/>
            <p:cNvSpPr/>
            <p:nvPr/>
          </p:nvSpPr>
          <p:spPr>
            <a:xfrm>
              <a:off x="8945879" y="3383279"/>
              <a:ext cx="1923414" cy="1155065"/>
            </a:xfrm>
            <a:custGeom>
              <a:avLst/>
              <a:gdLst/>
              <a:ahLst/>
              <a:cxnLst/>
              <a:rect l="l" t="t" r="r" b="b"/>
              <a:pathLst>
                <a:path w="1923415" h="1155064">
                  <a:moveTo>
                    <a:pt x="1807591" y="0"/>
                  </a:moveTo>
                  <a:lnTo>
                    <a:pt x="115570" y="0"/>
                  </a:lnTo>
                  <a:lnTo>
                    <a:pt x="70612" y="9017"/>
                  </a:lnTo>
                  <a:lnTo>
                    <a:pt x="33781" y="33782"/>
                  </a:lnTo>
                  <a:lnTo>
                    <a:pt x="9017" y="70485"/>
                  </a:lnTo>
                  <a:lnTo>
                    <a:pt x="0" y="115570"/>
                  </a:lnTo>
                  <a:lnTo>
                    <a:pt x="0" y="1039114"/>
                  </a:lnTo>
                  <a:lnTo>
                    <a:pt x="9017" y="1084199"/>
                  </a:lnTo>
                  <a:lnTo>
                    <a:pt x="33781" y="1120902"/>
                  </a:lnTo>
                  <a:lnTo>
                    <a:pt x="70612" y="1145667"/>
                  </a:lnTo>
                  <a:lnTo>
                    <a:pt x="115570" y="1154684"/>
                  </a:lnTo>
                  <a:lnTo>
                    <a:pt x="1807591" y="1154684"/>
                  </a:lnTo>
                  <a:lnTo>
                    <a:pt x="1852549" y="1145667"/>
                  </a:lnTo>
                  <a:lnTo>
                    <a:pt x="1889378" y="1120902"/>
                  </a:lnTo>
                  <a:lnTo>
                    <a:pt x="1914144" y="1084199"/>
                  </a:lnTo>
                  <a:lnTo>
                    <a:pt x="1923161" y="1039114"/>
                  </a:lnTo>
                  <a:lnTo>
                    <a:pt x="1923161" y="115570"/>
                  </a:lnTo>
                  <a:lnTo>
                    <a:pt x="1914144" y="70485"/>
                  </a:lnTo>
                  <a:lnTo>
                    <a:pt x="1889378" y="33782"/>
                  </a:lnTo>
                  <a:lnTo>
                    <a:pt x="1852549" y="9017"/>
                  </a:lnTo>
                  <a:lnTo>
                    <a:pt x="1807591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8945879" y="3383279"/>
              <a:ext cx="1923414" cy="1155065"/>
            </a:xfrm>
            <a:custGeom>
              <a:avLst/>
              <a:gdLst/>
              <a:ahLst/>
              <a:cxnLst/>
              <a:rect l="l" t="t" r="r" b="b"/>
              <a:pathLst>
                <a:path w="1923415" h="1155064">
                  <a:moveTo>
                    <a:pt x="0" y="115570"/>
                  </a:moveTo>
                  <a:lnTo>
                    <a:pt x="9017" y="70485"/>
                  </a:lnTo>
                  <a:lnTo>
                    <a:pt x="33781" y="33782"/>
                  </a:lnTo>
                  <a:lnTo>
                    <a:pt x="70612" y="9017"/>
                  </a:lnTo>
                  <a:lnTo>
                    <a:pt x="115570" y="0"/>
                  </a:lnTo>
                  <a:lnTo>
                    <a:pt x="1807591" y="0"/>
                  </a:lnTo>
                  <a:lnTo>
                    <a:pt x="1852549" y="9017"/>
                  </a:lnTo>
                  <a:lnTo>
                    <a:pt x="1889378" y="33782"/>
                  </a:lnTo>
                  <a:lnTo>
                    <a:pt x="1914144" y="70485"/>
                  </a:lnTo>
                  <a:lnTo>
                    <a:pt x="1923161" y="115570"/>
                  </a:lnTo>
                  <a:lnTo>
                    <a:pt x="1923161" y="1039114"/>
                  </a:lnTo>
                  <a:lnTo>
                    <a:pt x="1914144" y="1084199"/>
                  </a:lnTo>
                  <a:lnTo>
                    <a:pt x="1889378" y="1120902"/>
                  </a:lnTo>
                  <a:lnTo>
                    <a:pt x="1852549" y="1145667"/>
                  </a:lnTo>
                  <a:lnTo>
                    <a:pt x="1807591" y="1154684"/>
                  </a:lnTo>
                  <a:lnTo>
                    <a:pt x="115570" y="1154684"/>
                  </a:lnTo>
                  <a:lnTo>
                    <a:pt x="70612" y="1145667"/>
                  </a:lnTo>
                  <a:lnTo>
                    <a:pt x="33781" y="1120902"/>
                  </a:lnTo>
                  <a:lnTo>
                    <a:pt x="9017" y="1084199"/>
                  </a:lnTo>
                  <a:lnTo>
                    <a:pt x="0" y="1039114"/>
                  </a:lnTo>
                  <a:lnTo>
                    <a:pt x="0" y="115570"/>
                  </a:lnTo>
                  <a:close/>
                </a:path>
              </a:pathLst>
            </a:custGeom>
            <a:ln w="1523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9055354" y="3656457"/>
            <a:ext cx="1709420" cy="53975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3825" marR="5080" indent="-111760">
              <a:lnSpc>
                <a:spcPts val="2000"/>
              </a:lnSpc>
              <a:spcBef>
                <a:spcPts val="200"/>
              </a:spcBef>
            </a:pP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Barplot </a:t>
            </a:r>
            <a:r>
              <a:rPr sz="1700" spc="-5" dirty="0">
                <a:solidFill>
                  <a:srgbClr val="FFFFFF"/>
                </a:solidFill>
                <a:latin typeface="Carlito"/>
                <a:cs typeface="Carlito"/>
              </a:rPr>
              <a:t>to</a:t>
            </a:r>
            <a:r>
              <a:rPr sz="1700" spc="-15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700" spc="-20" dirty="0">
                <a:solidFill>
                  <a:srgbClr val="FFFFFF"/>
                </a:solidFill>
                <a:latin typeface="Carlito"/>
                <a:cs typeface="Carlito"/>
              </a:rPr>
              <a:t>compare  </a:t>
            </a:r>
            <a:r>
              <a:rPr sz="1700" spc="-10" dirty="0">
                <a:solidFill>
                  <a:srgbClr val="FFFFFF"/>
                </a:solidFill>
                <a:latin typeface="Carlito"/>
                <a:cs typeface="Carlito"/>
              </a:rPr>
              <a:t>scores </a:t>
            </a: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of</a:t>
            </a:r>
            <a:r>
              <a:rPr sz="1700" spc="-15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models</a:t>
            </a:r>
            <a:endParaRPr sz="1700">
              <a:latin typeface="Carlito"/>
              <a:cs typeface="Carlito"/>
            </a:endParaRPr>
          </a:p>
        </p:txBody>
      </p:sp>
      <p:sp>
        <p:nvSpPr>
          <p:cNvPr id="54" name="object 5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15</a:t>
            </a:fld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6618" rIns="0" bIns="0" rtlCol="0">
            <a:spAutoFit/>
          </a:bodyPr>
          <a:lstStyle/>
          <a:p>
            <a:pPr marL="168910">
              <a:lnSpc>
                <a:spcPct val="100000"/>
              </a:lnSpc>
              <a:spcBef>
                <a:spcPts val="100"/>
              </a:spcBef>
              <a:tabLst>
                <a:tab pos="10140315" algn="l"/>
              </a:tabLst>
            </a:pPr>
            <a:r>
              <a:rPr u="heavy" spc="-375" dirty="0">
                <a:uFill>
                  <a:solidFill>
                    <a:srgbClr val="7D7D7D"/>
                  </a:solidFill>
                </a:uFill>
              </a:rPr>
              <a:t>Results	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28166" y="5183504"/>
            <a:ext cx="904303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This is </a:t>
            </a:r>
            <a:r>
              <a:rPr sz="1800" dirty="0">
                <a:solidFill>
                  <a:srgbClr val="BB562C"/>
                </a:solidFill>
                <a:latin typeface="Carlito"/>
                <a:cs typeface="Carlito"/>
              </a:rPr>
              <a:t>a </a:t>
            </a:r>
            <a:r>
              <a:rPr sz="1800" spc="-20" dirty="0">
                <a:solidFill>
                  <a:srgbClr val="BB562C"/>
                </a:solidFill>
                <a:latin typeface="Carlito"/>
                <a:cs typeface="Carlito"/>
              </a:rPr>
              <a:t>preview </a:t>
            </a: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of </a:t>
            </a:r>
            <a:r>
              <a:rPr sz="1800" dirty="0">
                <a:solidFill>
                  <a:srgbClr val="BB562C"/>
                </a:solidFill>
                <a:latin typeface="Carlito"/>
                <a:cs typeface="Carlito"/>
              </a:rPr>
              <a:t>the </a:t>
            </a:r>
            <a:r>
              <a:rPr sz="1800" spc="-15" dirty="0">
                <a:solidFill>
                  <a:srgbClr val="BB562C"/>
                </a:solidFill>
                <a:latin typeface="Carlito"/>
                <a:cs typeface="Carlito"/>
              </a:rPr>
              <a:t>Plotly dashboard. </a:t>
            </a: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The </a:t>
            </a:r>
            <a:r>
              <a:rPr sz="1800" spc="-20" dirty="0">
                <a:solidFill>
                  <a:srgbClr val="BB562C"/>
                </a:solidFill>
                <a:latin typeface="Carlito"/>
                <a:cs typeface="Carlito"/>
              </a:rPr>
              <a:t>following </a:t>
            </a: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sides will show </a:t>
            </a:r>
            <a:r>
              <a:rPr sz="1800" dirty="0">
                <a:solidFill>
                  <a:srgbClr val="BB562C"/>
                </a:solidFill>
                <a:latin typeface="Carlito"/>
                <a:cs typeface="Carlito"/>
              </a:rPr>
              <a:t>the </a:t>
            </a:r>
            <a:r>
              <a:rPr sz="1800" spc="-15" dirty="0">
                <a:solidFill>
                  <a:srgbClr val="BB562C"/>
                </a:solidFill>
                <a:latin typeface="Carlito"/>
                <a:cs typeface="Carlito"/>
              </a:rPr>
              <a:t>results </a:t>
            </a: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of </a:t>
            </a:r>
            <a:r>
              <a:rPr sz="1800" spc="-20" dirty="0">
                <a:solidFill>
                  <a:srgbClr val="BB562C"/>
                </a:solidFill>
                <a:latin typeface="Carlito"/>
                <a:cs typeface="Carlito"/>
              </a:rPr>
              <a:t>EDA </a:t>
            </a: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with  </a:t>
            </a:r>
            <a:r>
              <a:rPr sz="1800" spc="-20" dirty="0">
                <a:solidFill>
                  <a:srgbClr val="BB562C"/>
                </a:solidFill>
                <a:latin typeface="Carlito"/>
                <a:cs typeface="Carlito"/>
              </a:rPr>
              <a:t>visualization, EDA </a:t>
            </a: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with </a:t>
            </a:r>
            <a:r>
              <a:rPr sz="1800" dirty="0">
                <a:solidFill>
                  <a:srgbClr val="BB562C"/>
                </a:solidFill>
                <a:latin typeface="Carlito"/>
                <a:cs typeface="Carlito"/>
              </a:rPr>
              <a:t>SQL, </a:t>
            </a:r>
            <a:r>
              <a:rPr sz="1800" spc="-25" dirty="0">
                <a:solidFill>
                  <a:srgbClr val="BB562C"/>
                </a:solidFill>
                <a:latin typeface="Carlito"/>
                <a:cs typeface="Carlito"/>
              </a:rPr>
              <a:t>Interactive </a:t>
            </a:r>
            <a:r>
              <a:rPr sz="1800" dirty="0">
                <a:solidFill>
                  <a:srgbClr val="BB562C"/>
                </a:solidFill>
                <a:latin typeface="Carlito"/>
                <a:cs typeface="Carlito"/>
              </a:rPr>
              <a:t>Map </a:t>
            </a: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with </a:t>
            </a:r>
            <a:r>
              <a:rPr sz="1800" spc="-20" dirty="0">
                <a:solidFill>
                  <a:srgbClr val="BB562C"/>
                </a:solidFill>
                <a:latin typeface="Carlito"/>
                <a:cs typeface="Carlito"/>
              </a:rPr>
              <a:t>Folium, </a:t>
            </a:r>
            <a:r>
              <a:rPr sz="1800" dirty="0">
                <a:solidFill>
                  <a:srgbClr val="BB562C"/>
                </a:solidFill>
                <a:latin typeface="Carlito"/>
                <a:cs typeface="Carlito"/>
              </a:rPr>
              <a:t>and </a:t>
            </a:r>
            <a:r>
              <a:rPr sz="1800" spc="-10" dirty="0">
                <a:solidFill>
                  <a:srgbClr val="BB562C"/>
                </a:solidFill>
                <a:latin typeface="Carlito"/>
                <a:cs typeface="Carlito"/>
              </a:rPr>
              <a:t>finally </a:t>
            </a:r>
            <a:r>
              <a:rPr sz="1800" dirty="0">
                <a:solidFill>
                  <a:srgbClr val="BB562C"/>
                </a:solidFill>
                <a:latin typeface="Carlito"/>
                <a:cs typeface="Carlito"/>
              </a:rPr>
              <a:t>the </a:t>
            </a:r>
            <a:r>
              <a:rPr sz="1800" spc="-15" dirty="0">
                <a:solidFill>
                  <a:srgbClr val="BB562C"/>
                </a:solidFill>
                <a:latin typeface="Carlito"/>
                <a:cs typeface="Carlito"/>
              </a:rPr>
              <a:t>results </a:t>
            </a: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of our </a:t>
            </a:r>
            <a:r>
              <a:rPr sz="1800" dirty="0">
                <a:solidFill>
                  <a:srgbClr val="BB562C"/>
                </a:solidFill>
                <a:latin typeface="Carlito"/>
                <a:cs typeface="Carlito"/>
              </a:rPr>
              <a:t>model </a:t>
            </a: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with  </a:t>
            </a:r>
            <a:r>
              <a:rPr sz="1800" dirty="0">
                <a:solidFill>
                  <a:srgbClr val="BB562C"/>
                </a:solidFill>
                <a:latin typeface="Carlito"/>
                <a:cs typeface="Carlito"/>
              </a:rPr>
              <a:t>about 83%</a:t>
            </a: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1800" spc="-45" dirty="0">
                <a:solidFill>
                  <a:srgbClr val="BB562C"/>
                </a:solidFill>
                <a:latin typeface="Carlito"/>
                <a:cs typeface="Carlito"/>
              </a:rPr>
              <a:t>accuracy.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16</a:t>
            </a:fld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8F4877-D962-4130-8512-2C5408972FE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800" y="1735136"/>
            <a:ext cx="5963918" cy="335470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019" y="2927985"/>
            <a:ext cx="8888095" cy="112146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200" spc="-1125" dirty="0">
                <a:solidFill>
                  <a:srgbClr val="242424"/>
                </a:solidFill>
                <a:latin typeface="Bahnschrift Condensed" panose="020B0502040204020203" pitchFamily="34" charset="0"/>
                <a:cs typeface="Arial"/>
              </a:rPr>
              <a:t>E</a:t>
            </a:r>
            <a:r>
              <a:rPr lang="en-IN" sz="7200" spc="-1125" dirty="0">
                <a:solidFill>
                  <a:srgbClr val="242424"/>
                </a:solidFill>
                <a:latin typeface="Bahnschrift Condensed" panose="020B0502040204020203" pitchFamily="34" charset="0"/>
                <a:cs typeface="Arial"/>
              </a:rPr>
              <a:t>   </a:t>
            </a:r>
            <a:r>
              <a:rPr sz="7200" spc="-1125" dirty="0">
                <a:solidFill>
                  <a:srgbClr val="242424"/>
                </a:solidFill>
                <a:latin typeface="Bahnschrift Condensed" panose="020B0502040204020203" pitchFamily="34" charset="0"/>
                <a:cs typeface="Arial"/>
              </a:rPr>
              <a:t>D</a:t>
            </a:r>
            <a:r>
              <a:rPr lang="en-IN" sz="7200" spc="-1125" dirty="0">
                <a:solidFill>
                  <a:srgbClr val="242424"/>
                </a:solidFill>
                <a:latin typeface="Bahnschrift Condensed" panose="020B0502040204020203" pitchFamily="34" charset="0"/>
                <a:cs typeface="Arial"/>
              </a:rPr>
              <a:t>  </a:t>
            </a:r>
            <a:r>
              <a:rPr sz="7200" spc="-1125" dirty="0">
                <a:solidFill>
                  <a:srgbClr val="242424"/>
                </a:solidFill>
                <a:latin typeface="Bahnschrift Condensed" panose="020B0502040204020203" pitchFamily="34" charset="0"/>
                <a:cs typeface="Arial"/>
              </a:rPr>
              <a:t>A </a:t>
            </a:r>
            <a:r>
              <a:rPr lang="en-IN" sz="7200" spc="-1125" dirty="0">
                <a:solidFill>
                  <a:srgbClr val="242424"/>
                </a:solidFill>
                <a:latin typeface="Bahnschrift Condensed" panose="020B0502040204020203" pitchFamily="34" charset="0"/>
                <a:cs typeface="Arial"/>
              </a:rPr>
              <a:t>   </a:t>
            </a:r>
            <a:r>
              <a:rPr sz="7200" spc="-50" dirty="0">
                <a:solidFill>
                  <a:srgbClr val="242424"/>
                </a:solidFill>
                <a:latin typeface="Bahnschrift Condensed" panose="020B0502040204020203" pitchFamily="34" charset="0"/>
                <a:cs typeface="Arial"/>
              </a:rPr>
              <a:t>with</a:t>
            </a:r>
            <a:r>
              <a:rPr sz="7200" spc="-1270" dirty="0">
                <a:solidFill>
                  <a:srgbClr val="242424"/>
                </a:solidFill>
                <a:latin typeface="Bahnschrift Condensed" panose="020B0502040204020203" pitchFamily="34" charset="0"/>
                <a:cs typeface="Arial"/>
              </a:rPr>
              <a:t> </a:t>
            </a:r>
            <a:r>
              <a:rPr sz="7200" spc="-425" dirty="0">
                <a:solidFill>
                  <a:srgbClr val="242424"/>
                </a:solidFill>
                <a:latin typeface="Bahnschrift Condensed" panose="020B0502040204020203" pitchFamily="34" charset="0"/>
                <a:cs typeface="Arial"/>
              </a:rPr>
              <a:t>Visualization</a:t>
            </a:r>
            <a:endParaRPr sz="7200" dirty="0">
              <a:latin typeface="Bahnschrift Condensed" panose="020B0502040204020203" pitchFamily="34" charset="0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17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176019" y="4411726"/>
            <a:ext cx="73736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52955" algn="l"/>
                <a:tab pos="4218940" algn="l"/>
                <a:tab pos="5101590" algn="l"/>
                <a:tab pos="6543675" algn="l"/>
              </a:tabLst>
            </a:pPr>
            <a:r>
              <a:rPr sz="2400" spc="-275" dirty="0">
                <a:solidFill>
                  <a:srgbClr val="616E52"/>
                </a:solidFill>
                <a:latin typeface="Arial"/>
                <a:cs typeface="Arial"/>
              </a:rPr>
              <a:t>EXPLORATORY	</a:t>
            </a:r>
            <a:r>
              <a:rPr sz="2400" spc="-340" dirty="0">
                <a:solidFill>
                  <a:srgbClr val="616E52"/>
                </a:solidFill>
                <a:latin typeface="Arial"/>
                <a:cs typeface="Arial"/>
              </a:rPr>
              <a:t>DATA  </a:t>
            </a:r>
            <a:r>
              <a:rPr sz="2400" spc="-330" dirty="0">
                <a:solidFill>
                  <a:srgbClr val="616E52"/>
                </a:solidFill>
                <a:latin typeface="Arial"/>
                <a:cs typeface="Arial"/>
              </a:rPr>
              <a:t> </a:t>
            </a:r>
            <a:r>
              <a:rPr sz="2400" spc="-225" dirty="0">
                <a:solidFill>
                  <a:srgbClr val="616E52"/>
                </a:solidFill>
                <a:latin typeface="Arial"/>
                <a:cs typeface="Arial"/>
              </a:rPr>
              <a:t>ANALYSIS	</a:t>
            </a:r>
            <a:r>
              <a:rPr sz="2400" spc="-85" dirty="0">
                <a:solidFill>
                  <a:srgbClr val="616E52"/>
                </a:solidFill>
                <a:latin typeface="Arial"/>
                <a:cs typeface="Arial"/>
              </a:rPr>
              <a:t>WITH	</a:t>
            </a:r>
            <a:r>
              <a:rPr sz="2400" spc="-215" dirty="0">
                <a:solidFill>
                  <a:srgbClr val="616E52"/>
                </a:solidFill>
                <a:latin typeface="Arial"/>
                <a:cs typeface="Arial"/>
              </a:rPr>
              <a:t>SEABORN	</a:t>
            </a:r>
            <a:r>
              <a:rPr sz="2400" spc="-295" dirty="0">
                <a:solidFill>
                  <a:srgbClr val="616E52"/>
                </a:solidFill>
                <a:latin typeface="Arial"/>
                <a:cs typeface="Arial"/>
              </a:rPr>
              <a:t>PLOTS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914901"/>
            <a:ext cx="12188825" cy="1943100"/>
            <a:chOff x="0" y="4914901"/>
            <a:chExt cx="12188825" cy="1943100"/>
          </a:xfrm>
        </p:grpSpPr>
        <p:sp>
          <p:nvSpPr>
            <p:cNvPr id="3" name="object 3"/>
            <p:cNvSpPr/>
            <p:nvPr/>
          </p:nvSpPr>
          <p:spPr>
            <a:xfrm>
              <a:off x="0" y="4978906"/>
              <a:ext cx="12188825" cy="1878964"/>
            </a:xfrm>
            <a:custGeom>
              <a:avLst/>
              <a:gdLst/>
              <a:ahLst/>
              <a:cxnLst/>
              <a:rect l="l" t="t" r="r" b="b"/>
              <a:pathLst>
                <a:path w="12188825" h="1878965">
                  <a:moveTo>
                    <a:pt x="12188444" y="0"/>
                  </a:moveTo>
                  <a:lnTo>
                    <a:pt x="0" y="0"/>
                  </a:lnTo>
                  <a:lnTo>
                    <a:pt x="0" y="1878584"/>
                  </a:lnTo>
                  <a:lnTo>
                    <a:pt x="12188444" y="1878584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BB56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4914901"/>
              <a:ext cx="12188825" cy="64135"/>
            </a:xfrm>
            <a:custGeom>
              <a:avLst/>
              <a:gdLst/>
              <a:ahLst/>
              <a:cxnLst/>
              <a:rect l="l" t="t" r="r" b="b"/>
              <a:pathLst>
                <a:path w="12188825" h="64135">
                  <a:moveTo>
                    <a:pt x="12188444" y="0"/>
                  </a:moveTo>
                  <a:lnTo>
                    <a:pt x="0" y="0"/>
                  </a:lnTo>
                  <a:lnTo>
                    <a:pt x="0" y="63879"/>
                  </a:lnTo>
                  <a:lnTo>
                    <a:pt x="12188444" y="63879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06907" y="456438"/>
            <a:ext cx="51625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04" dirty="0">
                <a:solidFill>
                  <a:srgbClr val="BB562C"/>
                </a:solidFill>
              </a:rPr>
              <a:t>Flight </a:t>
            </a:r>
            <a:r>
              <a:rPr sz="3600" spc="-229" dirty="0">
                <a:solidFill>
                  <a:srgbClr val="BB562C"/>
                </a:solidFill>
              </a:rPr>
              <a:t>Number </a:t>
            </a:r>
            <a:r>
              <a:rPr sz="3600" spc="-300" dirty="0">
                <a:solidFill>
                  <a:srgbClr val="BB562C"/>
                </a:solidFill>
              </a:rPr>
              <a:t>vs. </a:t>
            </a:r>
            <a:r>
              <a:rPr sz="3600" spc="-310" dirty="0">
                <a:solidFill>
                  <a:srgbClr val="BB562C"/>
                </a:solidFill>
              </a:rPr>
              <a:t>Launch</a:t>
            </a:r>
            <a:r>
              <a:rPr sz="3600" spc="-765" dirty="0">
                <a:solidFill>
                  <a:srgbClr val="BB562C"/>
                </a:solidFill>
              </a:rPr>
              <a:t> </a:t>
            </a:r>
            <a:r>
              <a:rPr sz="3600" spc="-265" dirty="0">
                <a:solidFill>
                  <a:srgbClr val="BB562C"/>
                </a:solidFill>
              </a:rPr>
              <a:t>Site</a:t>
            </a:r>
            <a:endParaRPr sz="3600"/>
          </a:p>
        </p:txBody>
      </p:sp>
      <p:sp>
        <p:nvSpPr>
          <p:cNvPr id="6" name="object 6"/>
          <p:cNvSpPr txBox="1"/>
          <p:nvPr/>
        </p:nvSpPr>
        <p:spPr>
          <a:xfrm>
            <a:off x="806907" y="5146750"/>
            <a:ext cx="6850380" cy="9112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20900"/>
              </a:lnSpc>
              <a:spcBef>
                <a:spcPts val="105"/>
              </a:spcBef>
            </a:pP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Graphic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suggests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an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increase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in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success </a:t>
            </a:r>
            <a:r>
              <a:rPr sz="1600" spc="-40" dirty="0">
                <a:solidFill>
                  <a:srgbClr val="FFFFFF"/>
                </a:solidFill>
                <a:latin typeface="Carlito"/>
                <a:cs typeface="Carlito"/>
              </a:rPr>
              <a:t>rate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over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time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(indicated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in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Flight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Number). 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Likely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a big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breakthrough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around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flight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20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which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significantly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increased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success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rate. 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CCAFS appears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to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be the main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launch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site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as it has the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most</a:t>
            </a:r>
            <a:r>
              <a:rPr sz="1600" spc="-9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volume.</a:t>
            </a:r>
            <a:endParaRPr sz="1600" dirty="0">
              <a:latin typeface="Carlito"/>
              <a:cs typeface="Carli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9623" y="1632204"/>
            <a:ext cx="12100560" cy="23774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77900" y="4346194"/>
            <a:ext cx="58623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0" dirty="0">
                <a:latin typeface="Carlito"/>
                <a:cs typeface="Carlito"/>
              </a:rPr>
              <a:t>Green indicates successful </a:t>
            </a:r>
            <a:r>
              <a:rPr sz="1600" spc="-10" dirty="0">
                <a:latin typeface="Carlito"/>
                <a:cs typeface="Carlito"/>
              </a:rPr>
              <a:t>launch; </a:t>
            </a:r>
            <a:r>
              <a:rPr sz="1600" spc="-15" dirty="0">
                <a:latin typeface="Carlito"/>
                <a:cs typeface="Carlito"/>
              </a:rPr>
              <a:t>Purple </a:t>
            </a:r>
            <a:r>
              <a:rPr sz="1600" spc="-20" dirty="0">
                <a:latin typeface="Carlito"/>
                <a:cs typeface="Carlito"/>
              </a:rPr>
              <a:t>indicates unsuccessful</a:t>
            </a:r>
            <a:r>
              <a:rPr sz="1600" spc="180" dirty="0">
                <a:latin typeface="Carlito"/>
                <a:cs typeface="Carlito"/>
              </a:rPr>
              <a:t> </a:t>
            </a:r>
            <a:r>
              <a:rPr sz="1600" spc="-10" dirty="0">
                <a:latin typeface="Carlito"/>
                <a:cs typeface="Carlito"/>
              </a:rPr>
              <a:t>launch.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18</a:t>
            </a:fld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914901"/>
            <a:ext cx="12188825" cy="1943100"/>
            <a:chOff x="0" y="4914901"/>
            <a:chExt cx="12188825" cy="1943100"/>
          </a:xfrm>
        </p:grpSpPr>
        <p:sp>
          <p:nvSpPr>
            <p:cNvPr id="3" name="object 3"/>
            <p:cNvSpPr/>
            <p:nvPr/>
          </p:nvSpPr>
          <p:spPr>
            <a:xfrm>
              <a:off x="0" y="4978906"/>
              <a:ext cx="12188825" cy="1878964"/>
            </a:xfrm>
            <a:custGeom>
              <a:avLst/>
              <a:gdLst/>
              <a:ahLst/>
              <a:cxnLst/>
              <a:rect l="l" t="t" r="r" b="b"/>
              <a:pathLst>
                <a:path w="12188825" h="1878965">
                  <a:moveTo>
                    <a:pt x="12188444" y="0"/>
                  </a:moveTo>
                  <a:lnTo>
                    <a:pt x="0" y="0"/>
                  </a:lnTo>
                  <a:lnTo>
                    <a:pt x="0" y="1878584"/>
                  </a:lnTo>
                  <a:lnTo>
                    <a:pt x="12188444" y="1878584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BB56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4914901"/>
              <a:ext cx="12188825" cy="64135"/>
            </a:xfrm>
            <a:custGeom>
              <a:avLst/>
              <a:gdLst/>
              <a:ahLst/>
              <a:cxnLst/>
              <a:rect l="l" t="t" r="r" b="b"/>
              <a:pathLst>
                <a:path w="12188825" h="64135">
                  <a:moveTo>
                    <a:pt x="12188444" y="0"/>
                  </a:moveTo>
                  <a:lnTo>
                    <a:pt x="0" y="0"/>
                  </a:lnTo>
                  <a:lnTo>
                    <a:pt x="0" y="63879"/>
                  </a:lnTo>
                  <a:lnTo>
                    <a:pt x="12188444" y="63879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02614" y="506095"/>
            <a:ext cx="40252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35" dirty="0">
                <a:solidFill>
                  <a:srgbClr val="BB562C"/>
                </a:solidFill>
              </a:rPr>
              <a:t>Payload </a:t>
            </a:r>
            <a:r>
              <a:rPr sz="3600" spc="-300" dirty="0">
                <a:solidFill>
                  <a:srgbClr val="BB562C"/>
                </a:solidFill>
              </a:rPr>
              <a:t>vs. </a:t>
            </a:r>
            <a:r>
              <a:rPr sz="3600" spc="-310" dirty="0">
                <a:solidFill>
                  <a:srgbClr val="BB562C"/>
                </a:solidFill>
              </a:rPr>
              <a:t>Launch</a:t>
            </a:r>
            <a:r>
              <a:rPr sz="3600" spc="-495" dirty="0">
                <a:solidFill>
                  <a:srgbClr val="BB562C"/>
                </a:solidFill>
              </a:rPr>
              <a:t> </a:t>
            </a:r>
            <a:r>
              <a:rPr sz="3600" spc="-260" dirty="0">
                <a:solidFill>
                  <a:srgbClr val="BB562C"/>
                </a:solidFill>
              </a:rPr>
              <a:t>Site</a:t>
            </a:r>
            <a:endParaRPr sz="3600"/>
          </a:p>
        </p:txBody>
      </p:sp>
      <p:sp>
        <p:nvSpPr>
          <p:cNvPr id="6" name="object 6"/>
          <p:cNvSpPr txBox="1"/>
          <p:nvPr/>
        </p:nvSpPr>
        <p:spPr>
          <a:xfrm>
            <a:off x="902614" y="5103774"/>
            <a:ext cx="5099050" cy="617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1400"/>
              </a:lnSpc>
              <a:spcBef>
                <a:spcPts val="100"/>
              </a:spcBef>
            </a:pP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Payload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mass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appears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to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fall mostly between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0-6000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kg. 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Different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launch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sites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also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seem to use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different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payload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mass.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9623" y="1653539"/>
            <a:ext cx="12100560" cy="23774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02614" y="4346194"/>
            <a:ext cx="58623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0" dirty="0">
                <a:latin typeface="Carlito"/>
                <a:cs typeface="Carlito"/>
              </a:rPr>
              <a:t>Green indicates successful </a:t>
            </a:r>
            <a:r>
              <a:rPr sz="1600" spc="-10" dirty="0">
                <a:latin typeface="Carlito"/>
                <a:cs typeface="Carlito"/>
              </a:rPr>
              <a:t>launch; </a:t>
            </a:r>
            <a:r>
              <a:rPr sz="1600" spc="-15" dirty="0">
                <a:latin typeface="Carlito"/>
                <a:cs typeface="Carlito"/>
              </a:rPr>
              <a:t>Purple </a:t>
            </a:r>
            <a:r>
              <a:rPr sz="1600" spc="-20" dirty="0">
                <a:latin typeface="Carlito"/>
                <a:cs typeface="Carlito"/>
              </a:rPr>
              <a:t>indicates unsuccessful</a:t>
            </a:r>
            <a:r>
              <a:rPr sz="1600" spc="185" dirty="0">
                <a:latin typeface="Carlito"/>
                <a:cs typeface="Carlito"/>
              </a:rPr>
              <a:t> </a:t>
            </a:r>
            <a:r>
              <a:rPr sz="1600" spc="-10" dirty="0">
                <a:latin typeface="Carlito"/>
                <a:cs typeface="Carlito"/>
              </a:rPr>
              <a:t>launch.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19</a:t>
            </a:fld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914901"/>
            <a:ext cx="12188825" cy="1943100"/>
            <a:chOff x="0" y="4914901"/>
            <a:chExt cx="12188825" cy="1943100"/>
          </a:xfrm>
        </p:grpSpPr>
        <p:sp>
          <p:nvSpPr>
            <p:cNvPr id="3" name="object 3"/>
            <p:cNvSpPr/>
            <p:nvPr/>
          </p:nvSpPr>
          <p:spPr>
            <a:xfrm>
              <a:off x="0" y="4978906"/>
              <a:ext cx="12188825" cy="1878964"/>
            </a:xfrm>
            <a:custGeom>
              <a:avLst/>
              <a:gdLst/>
              <a:ahLst/>
              <a:cxnLst/>
              <a:rect l="l" t="t" r="r" b="b"/>
              <a:pathLst>
                <a:path w="12188825" h="1878965">
                  <a:moveTo>
                    <a:pt x="12188444" y="0"/>
                  </a:moveTo>
                  <a:lnTo>
                    <a:pt x="0" y="0"/>
                  </a:lnTo>
                  <a:lnTo>
                    <a:pt x="0" y="1878584"/>
                  </a:lnTo>
                  <a:lnTo>
                    <a:pt x="12188444" y="1878584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BB56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4914901"/>
              <a:ext cx="12188825" cy="64135"/>
            </a:xfrm>
            <a:custGeom>
              <a:avLst/>
              <a:gdLst/>
              <a:ahLst/>
              <a:cxnLst/>
              <a:rect l="l" t="t" r="r" b="b"/>
              <a:pathLst>
                <a:path w="12188825" h="64135">
                  <a:moveTo>
                    <a:pt x="12188444" y="0"/>
                  </a:moveTo>
                  <a:lnTo>
                    <a:pt x="0" y="0"/>
                  </a:lnTo>
                  <a:lnTo>
                    <a:pt x="0" y="63879"/>
                  </a:lnTo>
                  <a:lnTo>
                    <a:pt x="12188444" y="63879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23391" y="488696"/>
            <a:ext cx="45739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25" dirty="0">
                <a:solidFill>
                  <a:srgbClr val="BB562C"/>
                </a:solidFill>
              </a:rPr>
              <a:t>Success </a:t>
            </a:r>
            <a:r>
              <a:rPr sz="3600" spc="-165" dirty="0">
                <a:solidFill>
                  <a:srgbClr val="BB562C"/>
                </a:solidFill>
              </a:rPr>
              <a:t>rate </a:t>
            </a:r>
            <a:r>
              <a:rPr sz="3600" spc="-300" dirty="0">
                <a:solidFill>
                  <a:srgbClr val="BB562C"/>
                </a:solidFill>
              </a:rPr>
              <a:t>vs. </a:t>
            </a:r>
            <a:r>
              <a:rPr sz="3600" spc="-135" dirty="0">
                <a:solidFill>
                  <a:srgbClr val="BB562C"/>
                </a:solidFill>
              </a:rPr>
              <a:t>Orbit</a:t>
            </a:r>
            <a:r>
              <a:rPr sz="3600" spc="-670" dirty="0">
                <a:solidFill>
                  <a:srgbClr val="BB562C"/>
                </a:solidFill>
              </a:rPr>
              <a:t> </a:t>
            </a:r>
            <a:r>
              <a:rPr sz="3600" spc="-145" dirty="0">
                <a:solidFill>
                  <a:srgbClr val="BB562C"/>
                </a:solidFill>
              </a:rPr>
              <a:t>type</a:t>
            </a:r>
            <a:endParaRPr sz="3600"/>
          </a:p>
        </p:txBody>
      </p:sp>
      <p:sp>
        <p:nvSpPr>
          <p:cNvPr id="6" name="object 6"/>
          <p:cNvSpPr txBox="1"/>
          <p:nvPr/>
        </p:nvSpPr>
        <p:spPr>
          <a:xfrm>
            <a:off x="1177848" y="4915179"/>
            <a:ext cx="6502400" cy="1499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800"/>
              </a:lnSpc>
              <a:spcBef>
                <a:spcPts val="100"/>
              </a:spcBef>
            </a:pP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ES-L1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(1),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GEO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(1), HEO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(1)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have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100%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success </a:t>
            </a:r>
            <a:r>
              <a:rPr sz="1600" spc="-40" dirty="0">
                <a:solidFill>
                  <a:srgbClr val="FFFFFF"/>
                </a:solidFill>
                <a:latin typeface="Carlito"/>
                <a:cs typeface="Carlito"/>
              </a:rPr>
              <a:t>rate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(sample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sizes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in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parenthesis) 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SSO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(5)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has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100%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success</a:t>
            </a:r>
            <a:r>
              <a:rPr sz="1600" spc="4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40" dirty="0">
                <a:solidFill>
                  <a:srgbClr val="FFFFFF"/>
                </a:solidFill>
                <a:latin typeface="Carlito"/>
                <a:cs typeface="Carlito"/>
              </a:rPr>
              <a:t>rate</a:t>
            </a:r>
            <a:endParaRPr sz="16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VLEO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(14)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has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decent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success </a:t>
            </a:r>
            <a:r>
              <a:rPr sz="1600" spc="-40" dirty="0">
                <a:solidFill>
                  <a:srgbClr val="FFFFFF"/>
                </a:solidFill>
                <a:latin typeface="Carlito"/>
                <a:cs typeface="Carlito"/>
              </a:rPr>
              <a:t>rate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and</a:t>
            </a:r>
            <a:r>
              <a:rPr sz="1600" spc="15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attempts</a:t>
            </a:r>
            <a:endParaRPr sz="16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SO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(1)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has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0% success</a:t>
            </a:r>
            <a:r>
              <a:rPr sz="1600" spc="8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40" dirty="0">
                <a:solidFill>
                  <a:srgbClr val="FFFFFF"/>
                </a:solidFill>
                <a:latin typeface="Carlito"/>
                <a:cs typeface="Carlito"/>
              </a:rPr>
              <a:t>rate</a:t>
            </a:r>
            <a:endParaRPr sz="16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sz="1600" spc="-40" dirty="0">
                <a:solidFill>
                  <a:srgbClr val="FFFFFF"/>
                </a:solidFill>
                <a:latin typeface="Carlito"/>
                <a:cs typeface="Carlito"/>
              </a:rPr>
              <a:t>GTO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(27)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has the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around 50%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success </a:t>
            </a:r>
            <a:r>
              <a:rPr sz="1600" spc="-40" dirty="0">
                <a:solidFill>
                  <a:srgbClr val="FFFFFF"/>
                </a:solidFill>
                <a:latin typeface="Carlito"/>
                <a:cs typeface="Carlito"/>
              </a:rPr>
              <a:t>rate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but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largest</a:t>
            </a:r>
            <a:r>
              <a:rPr sz="1600" spc="22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sample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321051" y="1185672"/>
            <a:ext cx="5430011" cy="35143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403463" y="3387597"/>
            <a:ext cx="217932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rlito"/>
                <a:cs typeface="Carlito"/>
              </a:rPr>
              <a:t>Success </a:t>
            </a:r>
            <a:r>
              <a:rPr sz="1800" spc="-25" dirty="0">
                <a:latin typeface="Carlito"/>
                <a:cs typeface="Carlito"/>
              </a:rPr>
              <a:t>Rate </a:t>
            </a:r>
            <a:r>
              <a:rPr sz="1800" spc="-20" dirty="0">
                <a:latin typeface="Carlito"/>
                <a:cs typeface="Carlito"/>
              </a:rPr>
              <a:t>Scale</a:t>
            </a:r>
            <a:r>
              <a:rPr sz="1800" spc="-65" dirty="0">
                <a:latin typeface="Carlito"/>
                <a:cs typeface="Carlito"/>
              </a:rPr>
              <a:t> </a:t>
            </a:r>
            <a:r>
              <a:rPr sz="1800" spc="-5" dirty="0">
                <a:latin typeface="Carlito"/>
                <a:cs typeface="Carlito"/>
              </a:rPr>
              <a:t>with  </a:t>
            </a:r>
            <a:r>
              <a:rPr sz="1800" dirty="0">
                <a:latin typeface="Carlito"/>
                <a:cs typeface="Carlito"/>
              </a:rPr>
              <a:t>0 as</a:t>
            </a:r>
            <a:r>
              <a:rPr sz="1800" spc="-70" dirty="0">
                <a:latin typeface="Carlito"/>
                <a:cs typeface="Carlito"/>
              </a:rPr>
              <a:t> </a:t>
            </a:r>
            <a:r>
              <a:rPr sz="1800" spc="-5" dirty="0">
                <a:latin typeface="Carlito"/>
                <a:cs typeface="Carlito"/>
              </a:rPr>
              <a:t>0%</a:t>
            </a:r>
            <a:endParaRPr sz="1800">
              <a:latin typeface="Carlito"/>
              <a:cs typeface="Carlito"/>
            </a:endParaRPr>
          </a:p>
          <a:p>
            <a:pPr marL="12700" marR="1182370">
              <a:lnSpc>
                <a:spcPct val="100000"/>
              </a:lnSpc>
            </a:pPr>
            <a:r>
              <a:rPr sz="1800" dirty="0">
                <a:latin typeface="Carlito"/>
                <a:cs typeface="Carlito"/>
              </a:rPr>
              <a:t>0.6 as</a:t>
            </a:r>
            <a:r>
              <a:rPr sz="1800" spc="-19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60%  1 as</a:t>
            </a:r>
            <a:r>
              <a:rPr sz="1800" spc="-125" dirty="0">
                <a:latin typeface="Carlito"/>
                <a:cs typeface="Carlito"/>
              </a:rPr>
              <a:t> </a:t>
            </a:r>
            <a:r>
              <a:rPr sz="1800" spc="-5" dirty="0">
                <a:latin typeface="Carlito"/>
                <a:cs typeface="Carlito"/>
              </a:rPr>
              <a:t>100%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20</a:t>
            </a:fld>
            <a:endParaRPr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914901"/>
            <a:ext cx="12188825" cy="1943100"/>
            <a:chOff x="0" y="4914901"/>
            <a:chExt cx="12188825" cy="1943100"/>
          </a:xfrm>
        </p:grpSpPr>
        <p:sp>
          <p:nvSpPr>
            <p:cNvPr id="3" name="object 3"/>
            <p:cNvSpPr/>
            <p:nvPr/>
          </p:nvSpPr>
          <p:spPr>
            <a:xfrm>
              <a:off x="0" y="4978906"/>
              <a:ext cx="12188825" cy="1878964"/>
            </a:xfrm>
            <a:custGeom>
              <a:avLst/>
              <a:gdLst/>
              <a:ahLst/>
              <a:cxnLst/>
              <a:rect l="l" t="t" r="r" b="b"/>
              <a:pathLst>
                <a:path w="12188825" h="1878965">
                  <a:moveTo>
                    <a:pt x="12188444" y="0"/>
                  </a:moveTo>
                  <a:lnTo>
                    <a:pt x="0" y="0"/>
                  </a:lnTo>
                  <a:lnTo>
                    <a:pt x="0" y="1878584"/>
                  </a:lnTo>
                  <a:lnTo>
                    <a:pt x="12188444" y="1878584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BB56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4914901"/>
              <a:ext cx="12188825" cy="64135"/>
            </a:xfrm>
            <a:custGeom>
              <a:avLst/>
              <a:gdLst/>
              <a:ahLst/>
              <a:cxnLst/>
              <a:rect l="l" t="t" r="r" b="b"/>
              <a:pathLst>
                <a:path w="12188825" h="64135">
                  <a:moveTo>
                    <a:pt x="12188444" y="0"/>
                  </a:moveTo>
                  <a:lnTo>
                    <a:pt x="0" y="0"/>
                  </a:lnTo>
                  <a:lnTo>
                    <a:pt x="0" y="63879"/>
                  </a:lnTo>
                  <a:lnTo>
                    <a:pt x="12188444" y="63879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02614" y="642620"/>
            <a:ext cx="49415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04" dirty="0">
                <a:solidFill>
                  <a:srgbClr val="BB562C"/>
                </a:solidFill>
              </a:rPr>
              <a:t>Flight </a:t>
            </a:r>
            <a:r>
              <a:rPr sz="3600" spc="-229" dirty="0">
                <a:solidFill>
                  <a:srgbClr val="BB562C"/>
                </a:solidFill>
              </a:rPr>
              <a:t>Number </a:t>
            </a:r>
            <a:r>
              <a:rPr sz="3600" spc="-300" dirty="0">
                <a:solidFill>
                  <a:srgbClr val="BB562C"/>
                </a:solidFill>
              </a:rPr>
              <a:t>vs. </a:t>
            </a:r>
            <a:r>
              <a:rPr sz="3600" spc="-135" dirty="0">
                <a:solidFill>
                  <a:srgbClr val="BB562C"/>
                </a:solidFill>
              </a:rPr>
              <a:t>Orbit</a:t>
            </a:r>
            <a:r>
              <a:rPr sz="3600" spc="-760" dirty="0">
                <a:solidFill>
                  <a:srgbClr val="BB562C"/>
                </a:solidFill>
              </a:rPr>
              <a:t> </a:t>
            </a:r>
            <a:r>
              <a:rPr sz="3600" spc="-145" dirty="0">
                <a:solidFill>
                  <a:srgbClr val="BB562C"/>
                </a:solidFill>
              </a:rPr>
              <a:t>type</a:t>
            </a:r>
            <a:endParaRPr sz="3600"/>
          </a:p>
        </p:txBody>
      </p:sp>
      <p:sp>
        <p:nvSpPr>
          <p:cNvPr id="6" name="object 6"/>
          <p:cNvSpPr txBox="1"/>
          <p:nvPr/>
        </p:nvSpPr>
        <p:spPr>
          <a:xfrm>
            <a:off x="1118108" y="5003952"/>
            <a:ext cx="8640445" cy="1207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951604">
              <a:lnSpc>
                <a:spcPct val="121200"/>
              </a:lnSpc>
              <a:spcBef>
                <a:spcPts val="100"/>
              </a:spcBef>
            </a:pP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Launch Orbit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preferences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changed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over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Flight </a:t>
            </a:r>
            <a:r>
              <a:rPr sz="1600" spc="-50" dirty="0">
                <a:solidFill>
                  <a:srgbClr val="FFFFFF"/>
                </a:solidFill>
                <a:latin typeface="Carlito"/>
                <a:cs typeface="Carlito"/>
              </a:rPr>
              <a:t>Number. 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Launch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Outcome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seems to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correlate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with this</a:t>
            </a:r>
            <a:r>
              <a:rPr sz="1600" spc="12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preference.</a:t>
            </a:r>
            <a:endParaRPr sz="1600">
              <a:latin typeface="Carlito"/>
              <a:cs typeface="Carlito"/>
            </a:endParaRPr>
          </a:p>
          <a:p>
            <a:pPr marL="12700" marR="5080">
              <a:lnSpc>
                <a:spcPts val="2330"/>
              </a:lnSpc>
              <a:spcBef>
                <a:spcPts val="135"/>
              </a:spcBef>
            </a:pP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SpaceX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started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with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LEO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orbits which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saw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moderate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success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LEO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and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returned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to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VLEO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in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recent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launches 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SpaceX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appears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to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perform better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in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lower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orbits or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Sun-synchronous</a:t>
            </a:r>
            <a:r>
              <a:rPr sz="1600" spc="27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orbits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5719" y="1644395"/>
            <a:ext cx="12094464" cy="23759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02614" y="4346194"/>
            <a:ext cx="58623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0" dirty="0">
                <a:latin typeface="Carlito"/>
                <a:cs typeface="Carlito"/>
              </a:rPr>
              <a:t>Green indicates successful </a:t>
            </a:r>
            <a:r>
              <a:rPr sz="1600" spc="-10" dirty="0">
                <a:latin typeface="Carlito"/>
                <a:cs typeface="Carlito"/>
              </a:rPr>
              <a:t>launch; </a:t>
            </a:r>
            <a:r>
              <a:rPr sz="1600" spc="-15" dirty="0">
                <a:latin typeface="Carlito"/>
                <a:cs typeface="Carlito"/>
              </a:rPr>
              <a:t>Purple </a:t>
            </a:r>
            <a:r>
              <a:rPr sz="1600" spc="-20" dirty="0">
                <a:latin typeface="Carlito"/>
                <a:cs typeface="Carlito"/>
              </a:rPr>
              <a:t>indicates unsuccessful</a:t>
            </a:r>
            <a:r>
              <a:rPr sz="1600" spc="185" dirty="0">
                <a:latin typeface="Carlito"/>
                <a:cs typeface="Carlito"/>
              </a:rPr>
              <a:t> </a:t>
            </a:r>
            <a:r>
              <a:rPr sz="1600" spc="-10" dirty="0">
                <a:latin typeface="Carlito"/>
                <a:cs typeface="Carlito"/>
              </a:rPr>
              <a:t>launch.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21</a:t>
            </a:fld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914901"/>
            <a:ext cx="12188825" cy="1943100"/>
            <a:chOff x="0" y="4914901"/>
            <a:chExt cx="12188825" cy="1943100"/>
          </a:xfrm>
        </p:grpSpPr>
        <p:sp>
          <p:nvSpPr>
            <p:cNvPr id="3" name="object 3"/>
            <p:cNvSpPr/>
            <p:nvPr/>
          </p:nvSpPr>
          <p:spPr>
            <a:xfrm>
              <a:off x="0" y="4978906"/>
              <a:ext cx="12188825" cy="1878964"/>
            </a:xfrm>
            <a:custGeom>
              <a:avLst/>
              <a:gdLst/>
              <a:ahLst/>
              <a:cxnLst/>
              <a:rect l="l" t="t" r="r" b="b"/>
              <a:pathLst>
                <a:path w="12188825" h="1878965">
                  <a:moveTo>
                    <a:pt x="12188444" y="0"/>
                  </a:moveTo>
                  <a:lnTo>
                    <a:pt x="0" y="0"/>
                  </a:lnTo>
                  <a:lnTo>
                    <a:pt x="0" y="1878584"/>
                  </a:lnTo>
                  <a:lnTo>
                    <a:pt x="12188444" y="1878584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BB56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4914901"/>
              <a:ext cx="12188825" cy="64135"/>
            </a:xfrm>
            <a:custGeom>
              <a:avLst/>
              <a:gdLst/>
              <a:ahLst/>
              <a:cxnLst/>
              <a:rect l="l" t="t" r="r" b="b"/>
              <a:pathLst>
                <a:path w="12188825" h="64135">
                  <a:moveTo>
                    <a:pt x="12188444" y="0"/>
                  </a:moveTo>
                  <a:lnTo>
                    <a:pt x="0" y="0"/>
                  </a:lnTo>
                  <a:lnTo>
                    <a:pt x="0" y="63879"/>
                  </a:lnTo>
                  <a:lnTo>
                    <a:pt x="12188444" y="63879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118108" y="808990"/>
            <a:ext cx="38042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35" dirty="0">
                <a:solidFill>
                  <a:srgbClr val="BB562C"/>
                </a:solidFill>
              </a:rPr>
              <a:t>Payload </a:t>
            </a:r>
            <a:r>
              <a:rPr sz="3600" spc="-300" dirty="0">
                <a:solidFill>
                  <a:srgbClr val="BB562C"/>
                </a:solidFill>
              </a:rPr>
              <a:t>vs. </a:t>
            </a:r>
            <a:r>
              <a:rPr sz="3600" spc="-135" dirty="0">
                <a:solidFill>
                  <a:srgbClr val="BB562C"/>
                </a:solidFill>
              </a:rPr>
              <a:t>Orbit</a:t>
            </a:r>
            <a:r>
              <a:rPr sz="3600" spc="-465" dirty="0">
                <a:solidFill>
                  <a:srgbClr val="BB562C"/>
                </a:solidFill>
              </a:rPr>
              <a:t> </a:t>
            </a:r>
            <a:r>
              <a:rPr sz="3600" spc="-145" dirty="0">
                <a:solidFill>
                  <a:srgbClr val="BB562C"/>
                </a:solidFill>
              </a:rPr>
              <a:t>type</a:t>
            </a:r>
            <a:endParaRPr sz="3600"/>
          </a:p>
        </p:txBody>
      </p:sp>
      <p:sp>
        <p:nvSpPr>
          <p:cNvPr id="6" name="object 6"/>
          <p:cNvSpPr txBox="1"/>
          <p:nvPr/>
        </p:nvSpPr>
        <p:spPr>
          <a:xfrm>
            <a:off x="1118108" y="5044185"/>
            <a:ext cx="7989570" cy="909955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Payload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mass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seems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to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correlate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with</a:t>
            </a:r>
            <a:r>
              <a:rPr sz="1600" spc="4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orbit</a:t>
            </a:r>
            <a:endParaRPr sz="16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LEO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and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SSO seem to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have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relatively low payload</a:t>
            </a:r>
            <a:r>
              <a:rPr sz="1600" spc="13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mass</a:t>
            </a:r>
            <a:endParaRPr sz="16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The other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most successful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orbit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VLEO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only has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payload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mass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values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in the higher end of the</a:t>
            </a:r>
            <a:r>
              <a:rPr sz="1600" spc="8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range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5719" y="1615439"/>
            <a:ext cx="12094464" cy="23759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02614" y="4346194"/>
            <a:ext cx="58623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0" dirty="0">
                <a:latin typeface="Carlito"/>
                <a:cs typeface="Carlito"/>
              </a:rPr>
              <a:t>Green indicates successful </a:t>
            </a:r>
            <a:r>
              <a:rPr sz="1600" spc="-10" dirty="0">
                <a:latin typeface="Carlito"/>
                <a:cs typeface="Carlito"/>
              </a:rPr>
              <a:t>launch; </a:t>
            </a:r>
            <a:r>
              <a:rPr sz="1600" spc="-15" dirty="0">
                <a:latin typeface="Carlito"/>
                <a:cs typeface="Carlito"/>
              </a:rPr>
              <a:t>Purple </a:t>
            </a:r>
            <a:r>
              <a:rPr sz="1600" spc="-20" dirty="0">
                <a:latin typeface="Carlito"/>
                <a:cs typeface="Carlito"/>
              </a:rPr>
              <a:t>indicates unsuccessful</a:t>
            </a:r>
            <a:r>
              <a:rPr sz="1600" spc="185" dirty="0">
                <a:latin typeface="Carlito"/>
                <a:cs typeface="Carlito"/>
              </a:rPr>
              <a:t> </a:t>
            </a:r>
            <a:r>
              <a:rPr sz="1600" spc="-10" dirty="0">
                <a:latin typeface="Carlito"/>
                <a:cs typeface="Carlito"/>
              </a:rPr>
              <a:t>launch.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22</a:t>
            </a:fld>
            <a:endParaRPr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914901"/>
            <a:ext cx="12188825" cy="1943100"/>
            <a:chOff x="0" y="4914901"/>
            <a:chExt cx="12188825" cy="1943100"/>
          </a:xfrm>
        </p:grpSpPr>
        <p:sp>
          <p:nvSpPr>
            <p:cNvPr id="3" name="object 3"/>
            <p:cNvSpPr/>
            <p:nvPr/>
          </p:nvSpPr>
          <p:spPr>
            <a:xfrm>
              <a:off x="0" y="4978906"/>
              <a:ext cx="12188825" cy="1878964"/>
            </a:xfrm>
            <a:custGeom>
              <a:avLst/>
              <a:gdLst/>
              <a:ahLst/>
              <a:cxnLst/>
              <a:rect l="l" t="t" r="r" b="b"/>
              <a:pathLst>
                <a:path w="12188825" h="1878965">
                  <a:moveTo>
                    <a:pt x="12188444" y="0"/>
                  </a:moveTo>
                  <a:lnTo>
                    <a:pt x="0" y="0"/>
                  </a:lnTo>
                  <a:lnTo>
                    <a:pt x="0" y="1878584"/>
                  </a:lnTo>
                  <a:lnTo>
                    <a:pt x="12188444" y="1878584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BB56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4914901"/>
              <a:ext cx="12188825" cy="64135"/>
            </a:xfrm>
            <a:custGeom>
              <a:avLst/>
              <a:gdLst/>
              <a:ahLst/>
              <a:cxnLst/>
              <a:rect l="l" t="t" r="r" b="b"/>
              <a:pathLst>
                <a:path w="12188825" h="64135">
                  <a:moveTo>
                    <a:pt x="12188444" y="0"/>
                  </a:moveTo>
                  <a:lnTo>
                    <a:pt x="0" y="0"/>
                  </a:lnTo>
                  <a:lnTo>
                    <a:pt x="0" y="63879"/>
                  </a:lnTo>
                  <a:lnTo>
                    <a:pt x="12188444" y="63879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176019" y="503682"/>
            <a:ext cx="49276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10" dirty="0">
                <a:solidFill>
                  <a:srgbClr val="BB562C"/>
                </a:solidFill>
              </a:rPr>
              <a:t>Launch </a:t>
            </a:r>
            <a:r>
              <a:rPr sz="3600" spc="-425" dirty="0">
                <a:solidFill>
                  <a:srgbClr val="BB562C"/>
                </a:solidFill>
              </a:rPr>
              <a:t>Success </a:t>
            </a:r>
            <a:r>
              <a:rPr sz="3600" spc="-335" dirty="0">
                <a:solidFill>
                  <a:srgbClr val="BB562C"/>
                </a:solidFill>
              </a:rPr>
              <a:t>Yearly</a:t>
            </a:r>
            <a:r>
              <a:rPr sz="3600" spc="-470" dirty="0">
                <a:solidFill>
                  <a:srgbClr val="BB562C"/>
                </a:solidFill>
              </a:rPr>
              <a:t> </a:t>
            </a:r>
            <a:r>
              <a:rPr sz="3600" spc="-305" dirty="0">
                <a:solidFill>
                  <a:srgbClr val="BB562C"/>
                </a:solidFill>
              </a:rPr>
              <a:t>Trend</a:t>
            </a:r>
            <a:endParaRPr sz="3600"/>
          </a:p>
        </p:txBody>
      </p:sp>
      <p:sp>
        <p:nvSpPr>
          <p:cNvPr id="6" name="object 6"/>
          <p:cNvSpPr txBox="1"/>
          <p:nvPr/>
        </p:nvSpPr>
        <p:spPr>
          <a:xfrm>
            <a:off x="1176019" y="5031310"/>
            <a:ext cx="5977890" cy="616585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Success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generally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increases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over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time since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2013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with a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slight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dip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in</a:t>
            </a:r>
            <a:r>
              <a:rPr sz="1600" spc="5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2018</a:t>
            </a:r>
            <a:endParaRPr sz="16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Success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in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recent years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at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around</a:t>
            </a:r>
            <a:r>
              <a:rPr sz="1600" spc="9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80%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564892" y="1484375"/>
            <a:ext cx="4565904" cy="30495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418578" y="2750057"/>
            <a:ext cx="1974214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spc="-20" dirty="0">
                <a:latin typeface="Carlito"/>
                <a:cs typeface="Carlito"/>
              </a:rPr>
              <a:t>95% confidence interval  </a:t>
            </a:r>
            <a:r>
              <a:rPr sz="1600" spc="-10" dirty="0">
                <a:latin typeface="Carlito"/>
                <a:cs typeface="Carlito"/>
              </a:rPr>
              <a:t>(light blue</a:t>
            </a:r>
            <a:r>
              <a:rPr sz="1600" spc="-100" dirty="0">
                <a:latin typeface="Carlito"/>
                <a:cs typeface="Carlito"/>
              </a:rPr>
              <a:t> </a:t>
            </a:r>
            <a:r>
              <a:rPr sz="1600" spc="-10" dirty="0">
                <a:latin typeface="Carlito"/>
                <a:cs typeface="Carlito"/>
              </a:rPr>
              <a:t>shading)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23</a:t>
            </a:fld>
            <a:endParaRPr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019" y="2927985"/>
            <a:ext cx="5426075" cy="12452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0" spc="-1125" dirty="0">
                <a:solidFill>
                  <a:srgbClr val="242424"/>
                </a:solidFill>
                <a:latin typeface="Arial"/>
                <a:cs typeface="Arial"/>
              </a:rPr>
              <a:t>EDA </a:t>
            </a:r>
            <a:r>
              <a:rPr sz="8000" spc="-50" dirty="0">
                <a:solidFill>
                  <a:srgbClr val="242424"/>
                </a:solidFill>
                <a:latin typeface="Arial"/>
                <a:cs typeface="Arial"/>
              </a:rPr>
              <a:t>with</a:t>
            </a:r>
            <a:r>
              <a:rPr sz="8000" spc="-1315" dirty="0">
                <a:solidFill>
                  <a:srgbClr val="242424"/>
                </a:solidFill>
                <a:latin typeface="Arial"/>
                <a:cs typeface="Arial"/>
              </a:rPr>
              <a:t> </a:t>
            </a:r>
            <a:r>
              <a:rPr sz="8000" spc="-1270" dirty="0">
                <a:solidFill>
                  <a:srgbClr val="242424"/>
                </a:solidFill>
                <a:latin typeface="Arial"/>
                <a:cs typeface="Arial"/>
              </a:rPr>
              <a:t>SQL</a:t>
            </a:r>
            <a:endParaRPr sz="80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24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176019" y="4221854"/>
            <a:ext cx="6306820" cy="1044575"/>
          </a:xfrm>
          <a:prstGeom prst="rect">
            <a:avLst/>
          </a:prstGeom>
        </p:spPr>
        <p:txBody>
          <a:bodyPr vert="horz" wrap="square" lIns="0" tIns="1562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30"/>
              </a:spcBef>
              <a:tabLst>
                <a:tab pos="2051685" algn="l"/>
                <a:tab pos="4216400" algn="l"/>
                <a:tab pos="5087620" algn="l"/>
                <a:tab pos="5720080" algn="l"/>
              </a:tabLst>
            </a:pPr>
            <a:r>
              <a:rPr sz="2400" spc="-275" dirty="0">
                <a:solidFill>
                  <a:srgbClr val="616E52"/>
                </a:solidFill>
                <a:latin typeface="Arial"/>
                <a:cs typeface="Arial"/>
              </a:rPr>
              <a:t>EXPLORATORY	</a:t>
            </a:r>
            <a:r>
              <a:rPr sz="2400" spc="-340" dirty="0">
                <a:solidFill>
                  <a:srgbClr val="616E52"/>
                </a:solidFill>
                <a:latin typeface="Arial"/>
                <a:cs typeface="Arial"/>
              </a:rPr>
              <a:t>DATA </a:t>
            </a:r>
            <a:r>
              <a:rPr sz="2400" spc="-30" dirty="0">
                <a:solidFill>
                  <a:srgbClr val="616E52"/>
                </a:solidFill>
                <a:latin typeface="Arial"/>
                <a:cs typeface="Arial"/>
              </a:rPr>
              <a:t> </a:t>
            </a:r>
            <a:r>
              <a:rPr sz="2400" spc="-220" dirty="0">
                <a:solidFill>
                  <a:srgbClr val="616E52"/>
                </a:solidFill>
                <a:latin typeface="Arial"/>
                <a:cs typeface="Arial"/>
              </a:rPr>
              <a:t>ANALYSIS	</a:t>
            </a:r>
            <a:r>
              <a:rPr sz="2400" spc="-85" dirty="0">
                <a:solidFill>
                  <a:srgbClr val="616E52"/>
                </a:solidFill>
                <a:latin typeface="Arial"/>
                <a:cs typeface="Arial"/>
              </a:rPr>
              <a:t>WITH	</a:t>
            </a:r>
            <a:r>
              <a:rPr sz="2400" spc="-290" dirty="0">
                <a:solidFill>
                  <a:srgbClr val="616E52"/>
                </a:solidFill>
                <a:latin typeface="Arial"/>
                <a:cs typeface="Arial"/>
              </a:rPr>
              <a:t>SQL	</a:t>
            </a:r>
            <a:r>
              <a:rPr sz="2400" spc="-155" dirty="0">
                <a:solidFill>
                  <a:srgbClr val="616E52"/>
                </a:solidFill>
                <a:latin typeface="Arial"/>
                <a:cs typeface="Arial"/>
              </a:rPr>
              <a:t>DB2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30"/>
              </a:spcBef>
              <a:tabLst>
                <a:tab pos="1867535" algn="l"/>
                <a:tab pos="2279015" algn="l"/>
                <a:tab pos="3546475" algn="l"/>
                <a:tab pos="4426585" algn="l"/>
              </a:tabLst>
            </a:pPr>
            <a:r>
              <a:rPr sz="2400" spc="-195" dirty="0">
                <a:solidFill>
                  <a:srgbClr val="616E52"/>
                </a:solidFill>
                <a:latin typeface="Arial"/>
                <a:cs typeface="Arial"/>
              </a:rPr>
              <a:t>INTEGRATED	</a:t>
            </a:r>
            <a:r>
              <a:rPr sz="2400" spc="-95" dirty="0">
                <a:solidFill>
                  <a:srgbClr val="616E52"/>
                </a:solidFill>
                <a:latin typeface="Arial"/>
                <a:cs typeface="Arial"/>
              </a:rPr>
              <a:t>IN	</a:t>
            </a:r>
            <a:r>
              <a:rPr sz="2400" spc="-185" dirty="0">
                <a:solidFill>
                  <a:srgbClr val="616E52"/>
                </a:solidFill>
                <a:latin typeface="Arial"/>
                <a:cs typeface="Arial"/>
              </a:rPr>
              <a:t>PYTHON	</a:t>
            </a:r>
            <a:r>
              <a:rPr sz="2400" spc="-85" dirty="0">
                <a:solidFill>
                  <a:srgbClr val="616E52"/>
                </a:solidFill>
                <a:latin typeface="Arial"/>
                <a:cs typeface="Arial"/>
              </a:rPr>
              <a:t>WITH	</a:t>
            </a:r>
            <a:r>
              <a:rPr sz="2400" spc="-175" dirty="0">
                <a:solidFill>
                  <a:srgbClr val="616E52"/>
                </a:solidFill>
                <a:latin typeface="Arial"/>
                <a:cs typeface="Arial"/>
              </a:rPr>
              <a:t>SQLALCHEMY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635" y="543559"/>
            <a:ext cx="51816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35" dirty="0"/>
              <a:t>All </a:t>
            </a:r>
            <a:r>
              <a:rPr spc="-400" dirty="0"/>
              <a:t>Launch </a:t>
            </a:r>
            <a:r>
              <a:rPr spc="-340" dirty="0"/>
              <a:t>Site</a:t>
            </a:r>
            <a:r>
              <a:rPr spc="-700" dirty="0"/>
              <a:t> </a:t>
            </a:r>
            <a:r>
              <a:rPr spc="-459" dirty="0"/>
              <a:t>Names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725415" y="1810867"/>
            <a:ext cx="6174740" cy="2526665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Query unique launch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site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names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from</a:t>
            </a:r>
            <a:r>
              <a:rPr sz="2000" spc="-8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database.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ts val="2300"/>
              </a:lnSpc>
              <a:spcBef>
                <a:spcPts val="120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CCAFS SLC-40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CCAFSSLC-40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likely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all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represent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</a:t>
            </a:r>
            <a:r>
              <a:rPr sz="2000" spc="-114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same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ts val="2300"/>
              </a:lnSpc>
            </a:pP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launch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site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with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data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entry</a:t>
            </a:r>
            <a:r>
              <a:rPr sz="2000" spc="-3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errors.</a:t>
            </a:r>
            <a:endParaRPr sz="2000">
              <a:latin typeface="Carlito"/>
              <a:cs typeface="Carlito"/>
            </a:endParaRPr>
          </a:p>
          <a:p>
            <a:pPr marL="12700" marR="2114550">
              <a:lnSpc>
                <a:spcPct val="141500"/>
              </a:lnSpc>
              <a:spcBef>
                <a:spcPts val="11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CCAFS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LC-40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was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previous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name. 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Likely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only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3 unique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launch_site values:  CCAFS SLC-40, KSC LC-39A,</a:t>
            </a:r>
            <a:r>
              <a:rPr sz="2000" spc="-31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40" dirty="0">
                <a:solidFill>
                  <a:srgbClr val="404040"/>
                </a:solidFill>
                <a:latin typeface="Carlito"/>
                <a:cs typeface="Carlito"/>
              </a:rPr>
              <a:t>VAFB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SLC-4E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182624" y="2010155"/>
            <a:ext cx="3220212" cy="27630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25</a:t>
            </a:fld>
            <a:endParaRPr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12037" y="838911"/>
            <a:ext cx="949642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0" dirty="0"/>
              <a:t>Launch </a:t>
            </a:r>
            <a:r>
              <a:rPr spc="-345" dirty="0"/>
              <a:t>Site </a:t>
            </a:r>
            <a:r>
              <a:rPr spc="-455" dirty="0"/>
              <a:t>Names </a:t>
            </a:r>
            <a:r>
              <a:rPr spc="-340" dirty="0"/>
              <a:t>Beginning </a:t>
            </a:r>
            <a:r>
              <a:rPr spc="-80" dirty="0"/>
              <a:t>with</a:t>
            </a:r>
            <a:r>
              <a:rPr spc="-590" dirty="0"/>
              <a:t> </a:t>
            </a:r>
            <a:r>
              <a:rPr spc="-630" dirty="0"/>
              <a:t>`CCA`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341611" y="2469007"/>
            <a:ext cx="1837689" cy="142875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 marR="5080">
              <a:lnSpc>
                <a:spcPts val="2160"/>
              </a:lnSpc>
              <a:spcBef>
                <a:spcPts val="375"/>
              </a:spcBef>
            </a:pPr>
            <a:r>
              <a:rPr sz="2000" spc="-35" dirty="0">
                <a:solidFill>
                  <a:srgbClr val="404040"/>
                </a:solidFill>
                <a:latin typeface="Carlito"/>
                <a:cs typeface="Carlito"/>
              </a:rPr>
              <a:t>First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five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entries 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in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database with  Launch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Site</a:t>
            </a:r>
            <a:r>
              <a:rPr sz="2000" spc="-10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name 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beginning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with 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CCA.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73252" y="1853183"/>
            <a:ext cx="8272272" cy="33314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26</a:t>
            </a:fld>
            <a:endParaRPr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635" y="543559"/>
            <a:ext cx="7138034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65" dirty="0"/>
              <a:t>Total </a:t>
            </a:r>
            <a:r>
              <a:rPr spc="-425" dirty="0"/>
              <a:t>Payload </a:t>
            </a:r>
            <a:r>
              <a:rPr spc="-434" dirty="0"/>
              <a:t>Mass </a:t>
            </a:r>
            <a:r>
              <a:rPr spc="-135" dirty="0"/>
              <a:t>from</a:t>
            </a:r>
            <a:r>
              <a:rPr spc="-580" dirty="0"/>
              <a:t> </a:t>
            </a:r>
            <a:r>
              <a:rPr spc="-690" dirty="0"/>
              <a:t>NASA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737475" y="2219960"/>
            <a:ext cx="3489325" cy="243014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 marR="5715">
              <a:lnSpc>
                <a:spcPts val="2160"/>
              </a:lnSpc>
              <a:spcBef>
                <a:spcPts val="375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This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query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sums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total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payload 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mass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in kg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where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NASA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was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 </a:t>
            </a:r>
            <a:r>
              <a:rPr sz="2000" spc="-60" dirty="0">
                <a:solidFill>
                  <a:srgbClr val="404040"/>
                </a:solidFill>
                <a:latin typeface="Carlito"/>
                <a:cs typeface="Carlito"/>
              </a:rPr>
              <a:t>customer.</a:t>
            </a:r>
            <a:endParaRPr sz="2000">
              <a:latin typeface="Carlito"/>
              <a:cs typeface="Carlito"/>
            </a:endParaRPr>
          </a:p>
          <a:p>
            <a:pPr marL="12700" marR="5080">
              <a:lnSpc>
                <a:spcPct val="90000"/>
              </a:lnSpc>
              <a:spcBef>
                <a:spcPts val="1370"/>
              </a:spcBef>
            </a:pP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CRS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stands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for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Commercial 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Resupply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Services which</a:t>
            </a:r>
            <a:r>
              <a:rPr sz="2000" spc="-9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indicates 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that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these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payloads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were sent to 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International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Space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Station 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(ISS).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274063" y="2263139"/>
            <a:ext cx="5687568" cy="25542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27</a:t>
            </a:fld>
            <a:endParaRPr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635" y="543559"/>
            <a:ext cx="7722234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25" dirty="0"/>
              <a:t>Average Payload </a:t>
            </a:r>
            <a:r>
              <a:rPr spc="-434" dirty="0"/>
              <a:t>Mass </a:t>
            </a:r>
            <a:r>
              <a:rPr spc="-285" dirty="0"/>
              <a:t>by </a:t>
            </a:r>
            <a:r>
              <a:rPr spc="-520" dirty="0"/>
              <a:t>F9</a:t>
            </a:r>
            <a:r>
              <a:rPr spc="-645" dirty="0"/>
              <a:t> </a:t>
            </a:r>
            <a:r>
              <a:rPr spc="-290" dirty="0"/>
              <a:t>v1.1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291830" y="2060575"/>
            <a:ext cx="2723515" cy="2186305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172085">
              <a:lnSpc>
                <a:spcPct val="91700"/>
              </a:lnSpc>
              <a:spcBef>
                <a:spcPts val="30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This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query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calculates</a:t>
            </a:r>
            <a:r>
              <a:rPr sz="2000" spc="-204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 </a:t>
            </a:r>
            <a:r>
              <a:rPr sz="2000" spc="-40" dirty="0">
                <a:solidFill>
                  <a:srgbClr val="404040"/>
                </a:solidFill>
                <a:latin typeface="Carlito"/>
                <a:cs typeface="Carlito"/>
              </a:rPr>
              <a:t>average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payload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mass or 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launches which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used 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booster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version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F9</a:t>
            </a:r>
            <a:r>
              <a:rPr sz="2000" spc="-3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v1.1</a:t>
            </a:r>
            <a:endParaRPr sz="2000">
              <a:latin typeface="Carlito"/>
              <a:cs typeface="Carlito"/>
            </a:endParaRPr>
          </a:p>
          <a:p>
            <a:pPr marL="12700" marR="5080">
              <a:lnSpc>
                <a:spcPct val="91800"/>
              </a:lnSpc>
              <a:spcBef>
                <a:spcPts val="1400"/>
              </a:spcBef>
            </a:pPr>
            <a:r>
              <a:rPr sz="2000" spc="-40" dirty="0">
                <a:solidFill>
                  <a:srgbClr val="404040"/>
                </a:solidFill>
                <a:latin typeface="Carlito"/>
                <a:cs typeface="Carlito"/>
              </a:rPr>
              <a:t>Average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payload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mass of 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F9 1.1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is on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low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end</a:t>
            </a:r>
            <a:r>
              <a:rPr sz="2000" spc="-23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  our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payload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mass</a:t>
            </a:r>
            <a:r>
              <a:rPr sz="2000" spc="-114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range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208532" y="2127504"/>
            <a:ext cx="6364224" cy="28696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28</a:t>
            </a:fld>
            <a:endParaRPr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635" y="543559"/>
            <a:ext cx="965517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90" dirty="0"/>
              <a:t>First </a:t>
            </a:r>
            <a:r>
              <a:rPr spc="-425" dirty="0"/>
              <a:t>Successful </a:t>
            </a:r>
            <a:r>
              <a:rPr spc="-320" dirty="0"/>
              <a:t>Ground </a:t>
            </a:r>
            <a:r>
              <a:rPr spc="-545" dirty="0"/>
              <a:t>Pad </a:t>
            </a:r>
            <a:r>
              <a:rPr spc="-370" dirty="0"/>
              <a:t>Landing</a:t>
            </a:r>
            <a:r>
              <a:rPr spc="-570" dirty="0"/>
              <a:t> </a:t>
            </a:r>
            <a:r>
              <a:rPr spc="-340" dirty="0"/>
              <a:t>Date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521067" y="2172462"/>
            <a:ext cx="3239770" cy="236474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135255">
              <a:lnSpc>
                <a:spcPct val="91800"/>
              </a:lnSpc>
              <a:spcBef>
                <a:spcPts val="30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This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query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returns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35" dirty="0">
                <a:solidFill>
                  <a:srgbClr val="404040"/>
                </a:solidFill>
                <a:latin typeface="Carlito"/>
                <a:cs typeface="Carlito"/>
              </a:rPr>
              <a:t>first 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successful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ground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pad</a:t>
            </a:r>
            <a:r>
              <a:rPr sz="2000" spc="-14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 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date.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ts val="2300"/>
              </a:lnSpc>
              <a:spcBef>
                <a:spcPts val="1200"/>
              </a:spcBef>
            </a:pPr>
            <a:r>
              <a:rPr sz="2000" spc="-35" dirty="0">
                <a:solidFill>
                  <a:srgbClr val="404040"/>
                </a:solidFill>
                <a:latin typeface="Carlito"/>
                <a:cs typeface="Carlito"/>
              </a:rPr>
              <a:t>First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ground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pad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</a:t>
            </a:r>
            <a:r>
              <a:rPr sz="2000" spc="-7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wasn’t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ts val="2300"/>
              </a:lnSpc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until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end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</a:t>
            </a:r>
            <a:r>
              <a:rPr sz="2000" spc="-10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2015.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ts val="2305"/>
              </a:lnSpc>
              <a:spcBef>
                <a:spcPts val="120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Successful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landings in</a:t>
            </a:r>
            <a:r>
              <a:rPr sz="2000" spc="-7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general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ts val="2305"/>
              </a:lnSpc>
            </a:pP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appear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starting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2014.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153667" y="2223516"/>
            <a:ext cx="5780532" cy="28605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29</a:t>
            </a:fld>
            <a:endParaRPr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635" y="368935"/>
            <a:ext cx="9105265" cy="1239520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12700" marR="5080">
              <a:lnSpc>
                <a:spcPts val="4400"/>
              </a:lnSpc>
              <a:spcBef>
                <a:spcPts val="875"/>
              </a:spcBef>
            </a:pPr>
            <a:r>
              <a:rPr sz="4300" spc="-390" dirty="0"/>
              <a:t>Successful </a:t>
            </a:r>
            <a:r>
              <a:rPr sz="4300" spc="-300" dirty="0"/>
              <a:t>Drone </a:t>
            </a:r>
            <a:r>
              <a:rPr sz="4300" spc="-375" dirty="0"/>
              <a:t>Ship </a:t>
            </a:r>
            <a:r>
              <a:rPr sz="4300" spc="-340" dirty="0"/>
              <a:t>Landing </a:t>
            </a:r>
            <a:r>
              <a:rPr sz="4300" spc="-75" dirty="0"/>
              <a:t>with</a:t>
            </a:r>
            <a:r>
              <a:rPr sz="4300" spc="-600" dirty="0"/>
              <a:t> </a:t>
            </a:r>
            <a:r>
              <a:rPr sz="4300" spc="-385" dirty="0"/>
              <a:t>Payload  </a:t>
            </a:r>
            <a:r>
              <a:rPr sz="4300" spc="-290" dirty="0"/>
              <a:t>Between </a:t>
            </a:r>
            <a:r>
              <a:rPr sz="4300" spc="-285" dirty="0"/>
              <a:t>4000 and</a:t>
            </a:r>
            <a:r>
              <a:rPr sz="4300" spc="-705" dirty="0"/>
              <a:t> </a:t>
            </a:r>
            <a:r>
              <a:rPr sz="4300" spc="-285" dirty="0"/>
              <a:t>6000</a:t>
            </a:r>
            <a:endParaRPr sz="4300"/>
          </a:p>
        </p:txBody>
      </p:sp>
      <p:sp>
        <p:nvSpPr>
          <p:cNvPr id="4" name="object 4"/>
          <p:cNvSpPr txBox="1"/>
          <p:nvPr/>
        </p:nvSpPr>
        <p:spPr>
          <a:xfrm>
            <a:off x="7904226" y="2630170"/>
            <a:ext cx="3121025" cy="1449705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5080">
              <a:lnSpc>
                <a:spcPct val="91700"/>
              </a:lnSpc>
              <a:spcBef>
                <a:spcPts val="30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This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query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returns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four  booster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versions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that had  successful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drone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ship</a:t>
            </a:r>
            <a:r>
              <a:rPr sz="2000" spc="-10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landings  and a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payload mass between 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4000 and 6000</a:t>
            </a:r>
            <a:r>
              <a:rPr sz="2000" spc="-16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noninclusively.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38200" y="2183892"/>
            <a:ext cx="6886956" cy="26380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30</a:t>
            </a:fld>
            <a:endParaRPr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52906" y="751459"/>
            <a:ext cx="931037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65" dirty="0"/>
              <a:t>Total </a:t>
            </a:r>
            <a:r>
              <a:rPr spc="-285" dirty="0"/>
              <a:t>Number </a:t>
            </a:r>
            <a:r>
              <a:rPr spc="-75" dirty="0"/>
              <a:t>of </a:t>
            </a:r>
            <a:r>
              <a:rPr spc="-540" dirty="0"/>
              <a:t>Each </a:t>
            </a:r>
            <a:r>
              <a:rPr spc="-275" dirty="0"/>
              <a:t>Mission</a:t>
            </a:r>
            <a:r>
              <a:rPr spc="-894" dirty="0"/>
              <a:t> </a:t>
            </a:r>
            <a:r>
              <a:rPr spc="-320" dirty="0"/>
              <a:t>Outcome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211694" y="2030983"/>
            <a:ext cx="3716020" cy="3379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2305"/>
              </a:lnSpc>
              <a:spcBef>
                <a:spcPts val="105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This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query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returns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count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</a:t>
            </a:r>
            <a:r>
              <a:rPr sz="2000" spc="-14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each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ts val="2305"/>
              </a:lnSpc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mission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outcome.</a:t>
            </a:r>
            <a:endParaRPr sz="2000">
              <a:latin typeface="Carlito"/>
              <a:cs typeface="Carlito"/>
            </a:endParaRPr>
          </a:p>
          <a:p>
            <a:pPr marL="12700" marR="83820">
              <a:lnSpc>
                <a:spcPts val="2200"/>
              </a:lnSpc>
              <a:spcBef>
                <a:spcPts val="1440"/>
              </a:spcBef>
            </a:pP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SpaceX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appears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achieve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its 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mission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outcome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nearly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99%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</a:t>
            </a:r>
            <a:r>
              <a:rPr sz="2000" spc="-10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time.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ts val="2305"/>
              </a:lnSpc>
              <a:spcBef>
                <a:spcPts val="115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This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means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that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most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of the</a:t>
            </a:r>
            <a:r>
              <a:rPr sz="2000" spc="-8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landing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ts val="2305"/>
              </a:lnSpc>
            </a:pP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failures are</a:t>
            </a:r>
            <a:r>
              <a:rPr sz="2000" spc="4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intended.</a:t>
            </a:r>
            <a:endParaRPr sz="2000">
              <a:latin typeface="Carlito"/>
              <a:cs typeface="Carlito"/>
            </a:endParaRPr>
          </a:p>
          <a:p>
            <a:pPr marL="12700" marR="337185">
              <a:lnSpc>
                <a:spcPts val="2200"/>
              </a:lnSpc>
              <a:spcBef>
                <a:spcPts val="1440"/>
              </a:spcBef>
            </a:pPr>
            <a:r>
              <a:rPr sz="2000" spc="-40" dirty="0">
                <a:solidFill>
                  <a:srgbClr val="404040"/>
                </a:solidFill>
                <a:latin typeface="Carlito"/>
                <a:cs typeface="Carlito"/>
              </a:rPr>
              <a:t>Interestingly,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one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launch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has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  unclear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payload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status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unfortunately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one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failed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in</a:t>
            </a:r>
            <a:r>
              <a:rPr sz="2000" spc="-4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flight.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289303" y="2026920"/>
            <a:ext cx="5138928" cy="34411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31</a:t>
            </a:fld>
            <a:endParaRPr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8200" y="1755648"/>
            <a:ext cx="5811011" cy="48859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16635" y="823721"/>
            <a:ext cx="943864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60" dirty="0"/>
              <a:t>Boosters </a:t>
            </a:r>
            <a:r>
              <a:rPr spc="-105" dirty="0"/>
              <a:t>that </a:t>
            </a:r>
            <a:r>
              <a:rPr spc="-315" dirty="0"/>
              <a:t>Carried </a:t>
            </a:r>
            <a:r>
              <a:rPr spc="-285" dirty="0"/>
              <a:t>Maximum</a:t>
            </a:r>
            <a:r>
              <a:rPr spc="-919" dirty="0"/>
              <a:t> </a:t>
            </a:r>
            <a:r>
              <a:rPr spc="-434" dirty="0"/>
              <a:t>Payload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32</a:t>
            </a:fld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6986778" y="2105609"/>
            <a:ext cx="4516120" cy="235458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marR="5080">
              <a:lnSpc>
                <a:spcPct val="90100"/>
              </a:lnSpc>
              <a:spcBef>
                <a:spcPts val="34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This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query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returns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booster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versions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that  carried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highest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payload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mass of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15600  kg.</a:t>
            </a:r>
            <a:endParaRPr sz="2000">
              <a:latin typeface="Carlito"/>
              <a:cs typeface="Carlito"/>
            </a:endParaRPr>
          </a:p>
          <a:p>
            <a:pPr marL="12700" marR="71120">
              <a:lnSpc>
                <a:spcPts val="2200"/>
              </a:lnSpc>
              <a:spcBef>
                <a:spcPts val="144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These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booster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versions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are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very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similar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 all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are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F9 B5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B10xx.x</a:t>
            </a:r>
            <a:r>
              <a:rPr sz="2000" spc="-14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45" dirty="0">
                <a:solidFill>
                  <a:srgbClr val="404040"/>
                </a:solidFill>
                <a:latin typeface="Carlito"/>
                <a:cs typeface="Carlito"/>
              </a:rPr>
              <a:t>variety.</a:t>
            </a:r>
            <a:endParaRPr sz="2000">
              <a:latin typeface="Carlito"/>
              <a:cs typeface="Carlito"/>
            </a:endParaRPr>
          </a:p>
          <a:p>
            <a:pPr marL="12700" marR="27305">
              <a:lnSpc>
                <a:spcPts val="2210"/>
              </a:lnSpc>
              <a:spcBef>
                <a:spcPts val="1395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This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likely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indicates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payload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mass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correlates 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with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booster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version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that is</a:t>
            </a:r>
            <a:r>
              <a:rPr sz="2000" spc="1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used.</a:t>
            </a:r>
            <a:endParaRPr sz="20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34923" y="751713"/>
            <a:ext cx="938403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5" dirty="0"/>
              <a:t>2015 </a:t>
            </a:r>
            <a:r>
              <a:rPr spc="-370" dirty="0"/>
              <a:t>Failed </a:t>
            </a:r>
            <a:r>
              <a:rPr spc="-320" dirty="0"/>
              <a:t>Drone </a:t>
            </a:r>
            <a:r>
              <a:rPr spc="-409" dirty="0"/>
              <a:t>Ship </a:t>
            </a:r>
            <a:r>
              <a:rPr spc="-370" dirty="0"/>
              <a:t>Landing</a:t>
            </a:r>
            <a:r>
              <a:rPr spc="-695" dirty="0"/>
              <a:t> </a:t>
            </a:r>
            <a:r>
              <a:rPr spc="-455" dirty="0"/>
              <a:t>Records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584693" y="2591562"/>
            <a:ext cx="3983354" cy="188595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34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This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query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returns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Month,</a:t>
            </a:r>
            <a:r>
              <a:rPr sz="2000" spc="-14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Landing 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Outcome, Booster </a:t>
            </a:r>
            <a:r>
              <a:rPr sz="2000" spc="-40" dirty="0">
                <a:solidFill>
                  <a:srgbClr val="404040"/>
                </a:solidFill>
                <a:latin typeface="Carlito"/>
                <a:cs typeface="Carlito"/>
              </a:rPr>
              <a:t>Version,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Payload 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Mass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(kg),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Launch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site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2015  launches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where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stage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1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failed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to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land  on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drone</a:t>
            </a:r>
            <a:r>
              <a:rPr sz="2000" spc="-8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ship.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There were two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such</a:t>
            </a:r>
            <a:r>
              <a:rPr sz="2000" spc="-5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occurrences.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35636" y="2630423"/>
            <a:ext cx="7306056" cy="20772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33</a:t>
            </a:fld>
            <a:endParaRPr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635" y="341122"/>
            <a:ext cx="8011795" cy="1239520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12700" marR="5080">
              <a:lnSpc>
                <a:spcPts val="4400"/>
              </a:lnSpc>
              <a:spcBef>
                <a:spcPts val="875"/>
              </a:spcBef>
            </a:pPr>
            <a:r>
              <a:rPr sz="4300" spc="-380" dirty="0"/>
              <a:t>Ranking </a:t>
            </a:r>
            <a:r>
              <a:rPr sz="4300" spc="-335" dirty="0"/>
              <a:t>Counts </a:t>
            </a:r>
            <a:r>
              <a:rPr sz="4300" spc="-75" dirty="0"/>
              <a:t>of </a:t>
            </a:r>
            <a:r>
              <a:rPr sz="4300" spc="-390" dirty="0"/>
              <a:t>Successful</a:t>
            </a:r>
            <a:r>
              <a:rPr sz="4300" spc="-844" dirty="0"/>
              <a:t> </a:t>
            </a:r>
            <a:r>
              <a:rPr sz="4300" spc="-370" dirty="0"/>
              <a:t>Landings  </a:t>
            </a:r>
            <a:r>
              <a:rPr sz="4300" spc="-290" dirty="0"/>
              <a:t>Between </a:t>
            </a:r>
            <a:r>
              <a:rPr sz="4300" spc="-280" dirty="0"/>
              <a:t>2010-06-04 </a:t>
            </a:r>
            <a:r>
              <a:rPr sz="4300" spc="-285" dirty="0"/>
              <a:t>and</a:t>
            </a:r>
            <a:r>
              <a:rPr sz="4300" spc="-745" dirty="0"/>
              <a:t> </a:t>
            </a:r>
            <a:r>
              <a:rPr sz="4300" spc="-295" dirty="0"/>
              <a:t>2017-03-20</a:t>
            </a:r>
            <a:endParaRPr sz="4300"/>
          </a:p>
        </p:txBody>
      </p:sp>
      <p:sp>
        <p:nvSpPr>
          <p:cNvPr id="4" name="object 4"/>
          <p:cNvSpPr txBox="1"/>
          <p:nvPr/>
        </p:nvSpPr>
        <p:spPr>
          <a:xfrm>
            <a:off x="6923278" y="2256789"/>
            <a:ext cx="4707890" cy="263144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5080">
              <a:lnSpc>
                <a:spcPct val="91800"/>
              </a:lnSpc>
              <a:spcBef>
                <a:spcPts val="30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This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query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returns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list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 successful</a:t>
            </a:r>
            <a:r>
              <a:rPr sz="2000" spc="-12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landings  and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between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2010-06-04 and 2017-03-20 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inclusively.</a:t>
            </a:r>
            <a:endParaRPr sz="2000">
              <a:latin typeface="Carlito"/>
              <a:cs typeface="Carlito"/>
            </a:endParaRPr>
          </a:p>
          <a:p>
            <a:pPr marL="12700" marR="464184">
              <a:lnSpc>
                <a:spcPct val="91800"/>
              </a:lnSpc>
              <a:spcBef>
                <a:spcPts val="1395"/>
              </a:spcBef>
            </a:pP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There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are two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types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 successful</a:t>
            </a:r>
            <a:r>
              <a:rPr sz="2000" spc="-9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 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outcomes: drone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ship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ground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pad 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landings.</a:t>
            </a:r>
            <a:endParaRPr sz="2000">
              <a:latin typeface="Carlito"/>
              <a:cs typeface="Carlito"/>
            </a:endParaRPr>
          </a:p>
          <a:p>
            <a:pPr marL="12700" marR="561975">
              <a:lnSpc>
                <a:spcPts val="2300"/>
              </a:lnSpc>
              <a:spcBef>
                <a:spcPts val="1160"/>
              </a:spcBef>
            </a:pP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There were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8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successful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landings in</a:t>
            </a:r>
            <a:r>
              <a:rPr sz="2000" spc="-13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total 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during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this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time</a:t>
            </a:r>
            <a:r>
              <a:rPr sz="2000" spc="-8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period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78536" y="2307335"/>
            <a:ext cx="6257544" cy="23987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34</a:t>
            </a:fld>
            <a:endParaRPr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019" y="1908429"/>
            <a:ext cx="8347075" cy="2286635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12700" marR="5080">
              <a:lnSpc>
                <a:spcPts val="8200"/>
              </a:lnSpc>
              <a:spcBef>
                <a:spcPts val="1540"/>
              </a:spcBef>
            </a:pPr>
            <a:r>
              <a:rPr sz="8000" spc="-300" dirty="0">
                <a:solidFill>
                  <a:srgbClr val="242424"/>
                </a:solidFill>
              </a:rPr>
              <a:t>Interactive </a:t>
            </a:r>
            <a:r>
              <a:rPr sz="8000" spc="-320" dirty="0">
                <a:solidFill>
                  <a:srgbClr val="242424"/>
                </a:solidFill>
              </a:rPr>
              <a:t>Map</a:t>
            </a:r>
            <a:r>
              <a:rPr sz="8000" spc="-1010" dirty="0">
                <a:solidFill>
                  <a:srgbClr val="242424"/>
                </a:solidFill>
              </a:rPr>
              <a:t> </a:t>
            </a:r>
            <a:r>
              <a:rPr sz="8000" spc="-50" dirty="0">
                <a:solidFill>
                  <a:srgbClr val="242424"/>
                </a:solidFill>
              </a:rPr>
              <a:t>with  </a:t>
            </a:r>
            <a:r>
              <a:rPr sz="8000" spc="-405" dirty="0">
                <a:solidFill>
                  <a:srgbClr val="242424"/>
                </a:solidFill>
              </a:rPr>
              <a:t>Folium</a:t>
            </a:r>
            <a:endParaRPr sz="8000"/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35</a:t>
            </a:fld>
            <a:endParaRPr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6618" rIns="0" bIns="0" rtlCol="0">
            <a:spAutoFit/>
          </a:bodyPr>
          <a:lstStyle/>
          <a:p>
            <a:pPr marL="168910">
              <a:lnSpc>
                <a:spcPct val="100000"/>
              </a:lnSpc>
              <a:spcBef>
                <a:spcPts val="100"/>
              </a:spcBef>
              <a:tabLst>
                <a:tab pos="10140315" algn="l"/>
              </a:tabLst>
            </a:pPr>
            <a:r>
              <a:rPr u="heavy" spc="-370" dirty="0">
                <a:uFill>
                  <a:solidFill>
                    <a:srgbClr val="7D7D7D"/>
                  </a:solidFill>
                </a:uFill>
              </a:rPr>
              <a:t>Launch </a:t>
            </a:r>
            <a:r>
              <a:rPr u="heavy" spc="-325" dirty="0">
                <a:uFill>
                  <a:solidFill>
                    <a:srgbClr val="7D7D7D"/>
                  </a:solidFill>
                </a:uFill>
              </a:rPr>
              <a:t>Site</a:t>
            </a:r>
            <a:r>
              <a:rPr u="heavy" spc="-450" dirty="0">
                <a:uFill>
                  <a:solidFill>
                    <a:srgbClr val="7D7D7D"/>
                  </a:solidFill>
                </a:uFill>
              </a:rPr>
              <a:t> </a:t>
            </a:r>
            <a:r>
              <a:rPr u="heavy" spc="-305" dirty="0">
                <a:uFill>
                  <a:solidFill>
                    <a:srgbClr val="7D7D7D"/>
                  </a:solidFill>
                </a:uFill>
              </a:rPr>
              <a:t>Locations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20013" y="5535879"/>
            <a:ext cx="9882505" cy="622300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700" marR="5080">
              <a:lnSpc>
                <a:spcPts val="2290"/>
              </a:lnSpc>
              <a:spcBef>
                <a:spcPts val="27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The left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map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shows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all launch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sites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relative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US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map.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The right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map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shows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two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Florida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launch 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sites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since they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are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very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close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each </a:t>
            </a:r>
            <a:r>
              <a:rPr sz="2000" spc="-65" dirty="0">
                <a:solidFill>
                  <a:srgbClr val="404040"/>
                </a:solidFill>
                <a:latin typeface="Carlito"/>
                <a:cs typeface="Carlito"/>
              </a:rPr>
              <a:t>other.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All launch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sites are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near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</a:t>
            </a:r>
            <a:r>
              <a:rPr sz="2000" spc="12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ocean.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54963" y="1796795"/>
            <a:ext cx="10279380" cy="36149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36</a:t>
            </a:fld>
            <a:endParaRPr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6618" rIns="0" bIns="0" rtlCol="0">
            <a:spAutoFit/>
          </a:bodyPr>
          <a:lstStyle/>
          <a:p>
            <a:pPr marL="168910">
              <a:lnSpc>
                <a:spcPct val="100000"/>
              </a:lnSpc>
              <a:spcBef>
                <a:spcPts val="100"/>
              </a:spcBef>
              <a:tabLst>
                <a:tab pos="10140315" algn="l"/>
              </a:tabLst>
            </a:pPr>
            <a:r>
              <a:rPr u="heavy" spc="-320" dirty="0">
                <a:uFill>
                  <a:solidFill>
                    <a:srgbClr val="7D7D7D"/>
                  </a:solidFill>
                </a:uFill>
              </a:rPr>
              <a:t>Color-Coded </a:t>
            </a:r>
            <a:r>
              <a:rPr u="heavy" spc="-370" dirty="0">
                <a:uFill>
                  <a:solidFill>
                    <a:srgbClr val="7D7D7D"/>
                  </a:solidFill>
                </a:uFill>
              </a:rPr>
              <a:t>Launch</a:t>
            </a:r>
            <a:r>
              <a:rPr u="heavy" spc="-530" dirty="0">
                <a:uFill>
                  <a:solidFill>
                    <a:srgbClr val="7D7D7D"/>
                  </a:solidFill>
                </a:uFill>
              </a:rPr>
              <a:t> </a:t>
            </a:r>
            <a:r>
              <a:rPr u="heavy" spc="-270" dirty="0">
                <a:uFill>
                  <a:solidFill>
                    <a:srgbClr val="7D7D7D"/>
                  </a:solidFill>
                </a:uFill>
              </a:rPr>
              <a:t>Markers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32712" y="5356656"/>
            <a:ext cx="10076180" cy="6115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305"/>
              </a:lnSpc>
              <a:spcBef>
                <a:spcPts val="100"/>
              </a:spcBef>
            </a:pP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Clusters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on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Folium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map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can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be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clicked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on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display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each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successful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(green icon)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</a:t>
            </a:r>
            <a:r>
              <a:rPr sz="2000" spc="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failed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ts val="2305"/>
              </a:lnSpc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landing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(red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icon).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In this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example </a:t>
            </a:r>
            <a:r>
              <a:rPr sz="2000" spc="-40" dirty="0">
                <a:solidFill>
                  <a:srgbClr val="404040"/>
                </a:solidFill>
                <a:latin typeface="Carlito"/>
                <a:cs typeface="Carlito"/>
              </a:rPr>
              <a:t>VAFB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SLC-4E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shows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4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successful landings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6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failed</a:t>
            </a:r>
            <a:r>
              <a:rPr sz="2000" spc="-6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landings.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889504" y="1801367"/>
            <a:ext cx="5620512" cy="35112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37</a:t>
            </a:fld>
            <a:endParaRPr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6618" rIns="0" bIns="0" rtlCol="0">
            <a:spAutoFit/>
          </a:bodyPr>
          <a:lstStyle/>
          <a:p>
            <a:pPr marL="168910">
              <a:lnSpc>
                <a:spcPct val="100000"/>
              </a:lnSpc>
              <a:spcBef>
                <a:spcPts val="100"/>
              </a:spcBef>
              <a:tabLst>
                <a:tab pos="10140315" algn="l"/>
              </a:tabLst>
            </a:pPr>
            <a:r>
              <a:rPr u="heavy" spc="-505" dirty="0">
                <a:uFill>
                  <a:solidFill>
                    <a:srgbClr val="7D7D7D"/>
                  </a:solidFill>
                </a:uFill>
              </a:rPr>
              <a:t>Key </a:t>
            </a:r>
            <a:r>
              <a:rPr u="heavy" spc="-270" dirty="0">
                <a:uFill>
                  <a:solidFill>
                    <a:srgbClr val="7D7D7D"/>
                  </a:solidFill>
                </a:uFill>
              </a:rPr>
              <a:t>Location</a:t>
            </a:r>
            <a:r>
              <a:rPr u="heavy" spc="-445" dirty="0">
                <a:uFill>
                  <a:solidFill>
                    <a:srgbClr val="7D7D7D"/>
                  </a:solidFill>
                </a:uFill>
              </a:rPr>
              <a:t> </a:t>
            </a:r>
            <a:r>
              <a:rPr u="heavy" spc="-260" dirty="0">
                <a:uFill>
                  <a:solidFill>
                    <a:srgbClr val="7D7D7D"/>
                  </a:solidFill>
                </a:uFill>
              </a:rPr>
              <a:t>Proximities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4275" y="5141214"/>
            <a:ext cx="9933940" cy="1062355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 marR="5080" algn="just">
              <a:lnSpc>
                <a:spcPct val="80000"/>
              </a:lnSpc>
              <a:spcBef>
                <a:spcPts val="585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Using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KSC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LC-39A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as an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example,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launch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sites are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very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close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to </a:t>
            </a:r>
            <a:r>
              <a:rPr sz="2000" spc="-35" dirty="0">
                <a:solidFill>
                  <a:srgbClr val="404040"/>
                </a:solidFill>
                <a:latin typeface="Carlito"/>
                <a:cs typeface="Carlito"/>
              </a:rPr>
              <a:t>railways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for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large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part and supply 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transportation.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Launch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sites are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close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highways </a:t>
            </a:r>
            <a:r>
              <a:rPr sz="2000" spc="-30" dirty="0">
                <a:solidFill>
                  <a:srgbClr val="404040"/>
                </a:solidFill>
                <a:latin typeface="Carlito"/>
                <a:cs typeface="Carlito"/>
              </a:rPr>
              <a:t>for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human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supply transport. Launch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sites 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are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also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close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to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coasts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and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relatively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far from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cities so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that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launch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failures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can land in the sea </a:t>
            </a:r>
            <a:r>
              <a:rPr sz="2000" spc="-40" dirty="0">
                <a:solidFill>
                  <a:srgbClr val="404040"/>
                </a:solidFill>
                <a:latin typeface="Carlito"/>
                <a:cs typeface="Carlito"/>
              </a:rPr>
              <a:t>to 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avoid </a:t>
            </a:r>
            <a:r>
              <a:rPr sz="2000" spc="-40" dirty="0">
                <a:solidFill>
                  <a:srgbClr val="404040"/>
                </a:solidFill>
                <a:latin typeface="Carlito"/>
                <a:cs typeface="Carlito"/>
              </a:rPr>
              <a:t>rockets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falling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on densely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populated</a:t>
            </a:r>
            <a:r>
              <a:rPr sz="2000" spc="-3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areas.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97280" y="1837944"/>
            <a:ext cx="8389620" cy="17236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2802635" y="3552444"/>
            <a:ext cx="7505700" cy="1562100"/>
            <a:chOff x="2802635" y="3552444"/>
            <a:chExt cx="7505700" cy="1562100"/>
          </a:xfrm>
        </p:grpSpPr>
        <p:sp>
          <p:nvSpPr>
            <p:cNvPr id="6" name="object 6"/>
            <p:cNvSpPr/>
            <p:nvPr/>
          </p:nvSpPr>
          <p:spPr>
            <a:xfrm>
              <a:off x="2802635" y="3552444"/>
              <a:ext cx="3409188" cy="151485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211823" y="3552444"/>
              <a:ext cx="4096512" cy="156209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38</a:t>
            </a:fld>
            <a:endParaRPr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019" y="1908429"/>
            <a:ext cx="9321165" cy="2286635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12700" marR="5080">
              <a:lnSpc>
                <a:spcPts val="8200"/>
              </a:lnSpc>
              <a:spcBef>
                <a:spcPts val="1540"/>
              </a:spcBef>
            </a:pPr>
            <a:r>
              <a:rPr sz="8000" spc="-365" dirty="0">
                <a:solidFill>
                  <a:srgbClr val="242424"/>
                </a:solidFill>
              </a:rPr>
              <a:t>Build </a:t>
            </a:r>
            <a:r>
              <a:rPr sz="8000" spc="-685" dirty="0">
                <a:solidFill>
                  <a:srgbClr val="242424"/>
                </a:solidFill>
              </a:rPr>
              <a:t>a </a:t>
            </a:r>
            <a:r>
              <a:rPr sz="8000" spc="-530" dirty="0">
                <a:solidFill>
                  <a:srgbClr val="242424"/>
                </a:solidFill>
              </a:rPr>
              <a:t>Dashboard</a:t>
            </a:r>
            <a:r>
              <a:rPr sz="8000" spc="-700" dirty="0">
                <a:solidFill>
                  <a:srgbClr val="242424"/>
                </a:solidFill>
              </a:rPr>
              <a:t> </a:t>
            </a:r>
            <a:r>
              <a:rPr sz="8000" spc="-50" dirty="0">
                <a:solidFill>
                  <a:srgbClr val="242424"/>
                </a:solidFill>
              </a:rPr>
              <a:t>with  </a:t>
            </a:r>
            <a:r>
              <a:rPr sz="8000" spc="-315" dirty="0">
                <a:solidFill>
                  <a:srgbClr val="242424"/>
                </a:solidFill>
              </a:rPr>
              <a:t>Plotly</a:t>
            </a:r>
            <a:r>
              <a:rPr sz="8000" spc="-580" dirty="0">
                <a:solidFill>
                  <a:srgbClr val="242424"/>
                </a:solidFill>
              </a:rPr>
              <a:t> </a:t>
            </a:r>
            <a:r>
              <a:rPr sz="8000" spc="-730" dirty="0">
                <a:solidFill>
                  <a:srgbClr val="242424"/>
                </a:solidFill>
              </a:rPr>
              <a:t>Dash</a:t>
            </a:r>
            <a:endParaRPr sz="8000"/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39</a:t>
            </a:fld>
            <a:endParaRPr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6618" rIns="0" bIns="0" rtlCol="0">
            <a:spAutoFit/>
          </a:bodyPr>
          <a:lstStyle/>
          <a:p>
            <a:pPr marL="168910">
              <a:lnSpc>
                <a:spcPct val="100000"/>
              </a:lnSpc>
              <a:spcBef>
                <a:spcPts val="100"/>
              </a:spcBef>
              <a:tabLst>
                <a:tab pos="10140315" algn="l"/>
              </a:tabLst>
            </a:pPr>
            <a:r>
              <a:rPr u="heavy" spc="-385" dirty="0">
                <a:uFill>
                  <a:solidFill>
                    <a:srgbClr val="7D7D7D"/>
                  </a:solidFill>
                </a:uFill>
              </a:rPr>
              <a:t>Successful </a:t>
            </a:r>
            <a:r>
              <a:rPr u="heavy" spc="-395" dirty="0">
                <a:uFill>
                  <a:solidFill>
                    <a:srgbClr val="7D7D7D"/>
                  </a:solidFill>
                </a:uFill>
              </a:rPr>
              <a:t>Launches Across </a:t>
            </a:r>
            <a:r>
              <a:rPr u="heavy" spc="-370" dirty="0">
                <a:uFill>
                  <a:solidFill>
                    <a:srgbClr val="7D7D7D"/>
                  </a:solidFill>
                </a:uFill>
              </a:rPr>
              <a:t>Launch</a:t>
            </a:r>
            <a:r>
              <a:rPr u="heavy" spc="-420" dirty="0">
                <a:uFill>
                  <a:solidFill>
                    <a:srgbClr val="7D7D7D"/>
                  </a:solidFill>
                </a:uFill>
              </a:rPr>
              <a:t> </a:t>
            </a:r>
            <a:r>
              <a:rPr u="heavy" spc="-380" dirty="0">
                <a:uFill>
                  <a:solidFill>
                    <a:srgbClr val="7D7D7D"/>
                  </a:solidFill>
                </a:uFill>
              </a:rPr>
              <a:t>Sites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8055" y="4796409"/>
            <a:ext cx="10751820" cy="115443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34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This is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distribution of successful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across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all launch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sites.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CCAFS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LC-40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is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old name of  CCAFS SLC-40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so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CCAFS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KSC </a:t>
            </a:r>
            <a:r>
              <a:rPr sz="2000" spc="-35" dirty="0">
                <a:solidFill>
                  <a:srgbClr val="404040"/>
                </a:solidFill>
                <a:latin typeface="Carlito"/>
                <a:cs typeface="Carlito"/>
              </a:rPr>
              <a:t>have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same amount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of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successful landings, but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majority of the 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successful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where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performed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before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name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change. </a:t>
            </a:r>
            <a:r>
              <a:rPr sz="2000" spc="-40" dirty="0">
                <a:solidFill>
                  <a:srgbClr val="404040"/>
                </a:solidFill>
                <a:latin typeface="Carlito"/>
                <a:cs typeface="Carlito"/>
              </a:rPr>
              <a:t>VAFB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has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smallest share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 successful 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landings.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This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may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be due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smaller sample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increase in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difficulty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launching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in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west</a:t>
            </a:r>
            <a:r>
              <a:rPr sz="2000" spc="-6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coast.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355591" y="1923288"/>
            <a:ext cx="2570988" cy="25816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970519" y="2189988"/>
            <a:ext cx="1085087" cy="66598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40</a:t>
            </a:fld>
            <a:endParaRPr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6618" rIns="0" bIns="0" rtlCol="0">
            <a:spAutoFit/>
          </a:bodyPr>
          <a:lstStyle/>
          <a:p>
            <a:pPr marL="168910">
              <a:lnSpc>
                <a:spcPct val="100000"/>
              </a:lnSpc>
              <a:spcBef>
                <a:spcPts val="100"/>
              </a:spcBef>
              <a:tabLst>
                <a:tab pos="10140315" algn="l"/>
              </a:tabLst>
            </a:pPr>
            <a:r>
              <a:rPr u="heavy" spc="-285" dirty="0">
                <a:uFill>
                  <a:solidFill>
                    <a:srgbClr val="7D7D7D"/>
                  </a:solidFill>
                </a:uFill>
              </a:rPr>
              <a:t>Highest </a:t>
            </a:r>
            <a:r>
              <a:rPr u="heavy" spc="-520" dirty="0">
                <a:uFill>
                  <a:solidFill>
                    <a:srgbClr val="7D7D7D"/>
                  </a:solidFill>
                </a:uFill>
              </a:rPr>
              <a:t>Success </a:t>
            </a:r>
            <a:r>
              <a:rPr u="heavy" spc="-395" dirty="0">
                <a:uFill>
                  <a:solidFill>
                    <a:srgbClr val="7D7D7D"/>
                  </a:solidFill>
                </a:uFill>
              </a:rPr>
              <a:t>Rate </a:t>
            </a:r>
            <a:r>
              <a:rPr u="heavy" spc="-370" dirty="0">
                <a:uFill>
                  <a:solidFill>
                    <a:srgbClr val="7D7D7D"/>
                  </a:solidFill>
                </a:uFill>
              </a:rPr>
              <a:t>Launch</a:t>
            </a:r>
            <a:r>
              <a:rPr u="heavy" spc="-400" dirty="0">
                <a:uFill>
                  <a:solidFill>
                    <a:srgbClr val="7D7D7D"/>
                  </a:solidFill>
                </a:uFill>
              </a:rPr>
              <a:t> </a:t>
            </a:r>
            <a:r>
              <a:rPr u="heavy" spc="-325" dirty="0">
                <a:uFill>
                  <a:solidFill>
                    <a:srgbClr val="7D7D7D"/>
                  </a:solidFill>
                </a:uFill>
              </a:rPr>
              <a:t>Site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6019" y="5068061"/>
            <a:ext cx="916749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KSC LC-39A has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highest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success </a:t>
            </a:r>
            <a:r>
              <a:rPr sz="2000" spc="-40" dirty="0">
                <a:solidFill>
                  <a:srgbClr val="404040"/>
                </a:solidFill>
                <a:latin typeface="Carlito"/>
                <a:cs typeface="Carlito"/>
              </a:rPr>
              <a:t>rate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with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10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successful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landings and 3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failed</a:t>
            </a:r>
            <a:r>
              <a:rPr sz="2000" spc="-10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landings.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811267" y="2243327"/>
            <a:ext cx="2570988" cy="25709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248155" y="2308860"/>
            <a:ext cx="3401568" cy="1524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031480" y="2429255"/>
            <a:ext cx="324611" cy="3048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41</a:t>
            </a:fld>
            <a:endParaRPr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3189" rIns="0" bIns="0" rtlCol="0">
            <a:spAutoFit/>
          </a:bodyPr>
          <a:lstStyle/>
          <a:p>
            <a:pPr marL="168910" marR="5080">
              <a:lnSpc>
                <a:spcPts val="4910"/>
              </a:lnSpc>
              <a:spcBef>
                <a:spcPts val="969"/>
              </a:spcBef>
              <a:tabLst>
                <a:tab pos="10140315" algn="l"/>
              </a:tabLst>
            </a:pPr>
            <a:r>
              <a:rPr spc="-385" dirty="0"/>
              <a:t>Payload </a:t>
            </a:r>
            <a:r>
              <a:rPr spc="-390" dirty="0"/>
              <a:t>Mass </a:t>
            </a:r>
            <a:r>
              <a:rPr spc="-365" dirty="0"/>
              <a:t>vs. </a:t>
            </a:r>
            <a:r>
              <a:rPr spc="-520" dirty="0"/>
              <a:t>Success </a:t>
            </a:r>
            <a:r>
              <a:rPr spc="-365" dirty="0"/>
              <a:t>vs. </a:t>
            </a:r>
            <a:r>
              <a:rPr spc="-270" dirty="0"/>
              <a:t>Booster  </a:t>
            </a:r>
            <a:r>
              <a:rPr u="heavy" spc="-330" dirty="0">
                <a:uFill>
                  <a:solidFill>
                    <a:srgbClr val="7D7D7D"/>
                  </a:solidFill>
                </a:uFill>
              </a:rPr>
              <a:t>Version</a:t>
            </a:r>
            <a:r>
              <a:rPr u="heavy" spc="-409" dirty="0">
                <a:uFill>
                  <a:solidFill>
                    <a:srgbClr val="7D7D7D"/>
                  </a:solidFill>
                </a:uFill>
              </a:rPr>
              <a:t> </a:t>
            </a:r>
            <a:r>
              <a:rPr u="heavy" spc="-330" dirty="0">
                <a:uFill>
                  <a:solidFill>
                    <a:srgbClr val="7D7D7D"/>
                  </a:solidFill>
                </a:uFill>
              </a:rPr>
              <a:t>Category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4275" y="4868926"/>
            <a:ext cx="9767570" cy="116967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5080">
              <a:lnSpc>
                <a:spcPct val="91700"/>
              </a:lnSpc>
              <a:spcBef>
                <a:spcPts val="30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Plotly dashboard has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Payload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range </a:t>
            </a:r>
            <a:r>
              <a:rPr sz="2000" spc="-60" dirty="0">
                <a:solidFill>
                  <a:srgbClr val="404040"/>
                </a:solidFill>
                <a:latin typeface="Carlito"/>
                <a:cs typeface="Carlito"/>
              </a:rPr>
              <a:t>selector. </a:t>
            </a:r>
            <a:r>
              <a:rPr sz="2000" spc="-65" dirty="0">
                <a:solidFill>
                  <a:srgbClr val="404040"/>
                </a:solidFill>
                <a:latin typeface="Carlito"/>
                <a:cs typeface="Carlito"/>
              </a:rPr>
              <a:t>However,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this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is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set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from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0-10000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instead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max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Payload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15600.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Class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indicates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1 </a:t>
            </a:r>
            <a:r>
              <a:rPr sz="2000" spc="-30" dirty="0">
                <a:solidFill>
                  <a:srgbClr val="404040"/>
                </a:solidFill>
                <a:latin typeface="Carlito"/>
                <a:cs typeface="Carlito"/>
              </a:rPr>
              <a:t>for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successful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 and 0 </a:t>
            </a:r>
            <a:r>
              <a:rPr sz="2000" spc="-30" dirty="0">
                <a:solidFill>
                  <a:srgbClr val="404040"/>
                </a:solidFill>
                <a:latin typeface="Carlito"/>
                <a:cs typeface="Carlito"/>
              </a:rPr>
              <a:t>for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failure.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Scatter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plot also  accounts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for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booster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version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category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in color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number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launches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in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point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size.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In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this 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particular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range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0-6000,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interestingly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there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are two failed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with payloads of </a:t>
            </a:r>
            <a:r>
              <a:rPr sz="2000" spc="-45" dirty="0">
                <a:solidFill>
                  <a:srgbClr val="404040"/>
                </a:solidFill>
                <a:latin typeface="Carlito"/>
                <a:cs typeface="Carlito"/>
              </a:rPr>
              <a:t>zero</a:t>
            </a:r>
            <a:r>
              <a:rPr sz="2000" spc="-3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kg.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17958" y="1774321"/>
            <a:ext cx="11568046" cy="29815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42</a:t>
            </a:fld>
            <a:endParaRPr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333745"/>
            <a:ext cx="12192000" cy="524510"/>
            <a:chOff x="0" y="6333745"/>
            <a:chExt cx="12192000" cy="524510"/>
          </a:xfrm>
        </p:grpSpPr>
        <p:sp>
          <p:nvSpPr>
            <p:cNvPr id="3" name="object 3"/>
            <p:cNvSpPr/>
            <p:nvPr/>
          </p:nvSpPr>
          <p:spPr>
            <a:xfrm>
              <a:off x="3047" y="6400798"/>
              <a:ext cx="12188825" cy="457200"/>
            </a:xfrm>
            <a:custGeom>
              <a:avLst/>
              <a:gdLst/>
              <a:ahLst/>
              <a:cxnLst/>
              <a:rect l="l" t="t" r="r" b="b"/>
              <a:pathLst>
                <a:path w="12188825" h="457200">
                  <a:moveTo>
                    <a:pt x="12188444" y="0"/>
                  </a:moveTo>
                  <a:lnTo>
                    <a:pt x="0" y="0"/>
                  </a:lnTo>
                  <a:lnTo>
                    <a:pt x="0" y="457199"/>
                  </a:lnTo>
                  <a:lnTo>
                    <a:pt x="12188444" y="457199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BB56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333745"/>
              <a:ext cx="12188825" cy="64135"/>
            </a:xfrm>
            <a:custGeom>
              <a:avLst/>
              <a:gdLst/>
              <a:ahLst/>
              <a:cxnLst/>
              <a:rect l="l" t="t" r="r" b="b"/>
              <a:pathLst>
                <a:path w="12188825" h="64135">
                  <a:moveTo>
                    <a:pt x="12188444" y="0"/>
                  </a:moveTo>
                  <a:lnTo>
                    <a:pt x="0" y="0"/>
                  </a:lnTo>
                  <a:lnTo>
                    <a:pt x="0" y="63879"/>
                  </a:lnTo>
                  <a:lnTo>
                    <a:pt x="12188444" y="63879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1207008" y="4343400"/>
            <a:ext cx="9875520" cy="0"/>
          </a:xfrm>
          <a:custGeom>
            <a:avLst/>
            <a:gdLst/>
            <a:ahLst/>
            <a:cxnLst/>
            <a:rect l="l" t="t" r="r" b="b"/>
            <a:pathLst>
              <a:path w="9875520">
                <a:moveTo>
                  <a:pt x="0" y="0"/>
                </a:moveTo>
                <a:lnTo>
                  <a:pt x="987552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81523" rIns="0" bIns="0" rtlCol="0">
            <a:spAutoFit/>
          </a:bodyPr>
          <a:lstStyle/>
          <a:p>
            <a:pPr marL="16510" marR="5080">
              <a:lnSpc>
                <a:spcPts val="8200"/>
              </a:lnSpc>
              <a:spcBef>
                <a:spcPts val="1540"/>
              </a:spcBef>
            </a:pPr>
            <a:r>
              <a:rPr spc="-385" dirty="0"/>
              <a:t>Predictive</a:t>
            </a:r>
            <a:r>
              <a:rPr spc="-750" dirty="0"/>
              <a:t> </a:t>
            </a:r>
            <a:r>
              <a:rPr spc="-570" dirty="0"/>
              <a:t>Analysis  </a:t>
            </a:r>
            <a:r>
              <a:rPr spc="-425" dirty="0"/>
              <a:t>(Classification)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43</a:t>
            </a:fld>
            <a:endParaRPr dirty="0"/>
          </a:p>
        </p:txBody>
      </p:sp>
      <p:sp>
        <p:nvSpPr>
          <p:cNvPr id="7" name="object 7"/>
          <p:cNvSpPr txBox="1"/>
          <p:nvPr/>
        </p:nvSpPr>
        <p:spPr>
          <a:xfrm>
            <a:off x="1176019" y="4417517"/>
            <a:ext cx="9558020" cy="722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745"/>
              </a:lnSpc>
              <a:spcBef>
                <a:spcPts val="100"/>
              </a:spcBef>
              <a:tabLst>
                <a:tab pos="3461385" algn="l"/>
                <a:tab pos="4001135" algn="l"/>
                <a:tab pos="5398770" algn="l"/>
                <a:tab pos="7389495" algn="l"/>
                <a:tab pos="8218170" algn="l"/>
              </a:tabLst>
            </a:pPr>
            <a:r>
              <a:rPr sz="2400" spc="-130" dirty="0">
                <a:solidFill>
                  <a:srgbClr val="616E52"/>
                </a:solidFill>
                <a:latin typeface="Arial"/>
                <a:cs typeface="Arial"/>
              </a:rPr>
              <a:t>GRIDSEARCHCV(CV=10)	</a:t>
            </a:r>
            <a:r>
              <a:rPr sz="2400" spc="-200" dirty="0">
                <a:solidFill>
                  <a:srgbClr val="616E52"/>
                </a:solidFill>
                <a:latin typeface="Arial"/>
                <a:cs typeface="Arial"/>
              </a:rPr>
              <a:t>ON	</a:t>
            </a:r>
            <a:r>
              <a:rPr sz="2400" spc="-160" dirty="0">
                <a:solidFill>
                  <a:srgbClr val="616E52"/>
                </a:solidFill>
                <a:latin typeface="Arial"/>
                <a:cs typeface="Arial"/>
              </a:rPr>
              <a:t>LOGISTIC	</a:t>
            </a:r>
            <a:r>
              <a:rPr sz="2400" spc="-190" dirty="0">
                <a:solidFill>
                  <a:srgbClr val="616E52"/>
                </a:solidFill>
                <a:latin typeface="Arial"/>
                <a:cs typeface="Arial"/>
              </a:rPr>
              <a:t>REGRESSION,	</a:t>
            </a:r>
            <a:r>
              <a:rPr sz="2400" spc="-95" dirty="0">
                <a:solidFill>
                  <a:srgbClr val="616E52"/>
                </a:solidFill>
                <a:latin typeface="Arial"/>
                <a:cs typeface="Arial"/>
              </a:rPr>
              <a:t>SVM,	</a:t>
            </a:r>
            <a:r>
              <a:rPr sz="2400" spc="-150" dirty="0">
                <a:solidFill>
                  <a:srgbClr val="616E52"/>
                </a:solidFill>
                <a:latin typeface="Arial"/>
                <a:cs typeface="Arial"/>
              </a:rPr>
              <a:t>DECISION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ts val="2745"/>
              </a:lnSpc>
              <a:tabLst>
                <a:tab pos="911225" algn="l"/>
                <a:tab pos="1632585" algn="l"/>
              </a:tabLst>
            </a:pPr>
            <a:r>
              <a:rPr sz="2400" spc="-220" dirty="0">
                <a:solidFill>
                  <a:srgbClr val="616E52"/>
                </a:solidFill>
                <a:latin typeface="Arial"/>
                <a:cs typeface="Arial"/>
              </a:rPr>
              <a:t>TREE,	</a:t>
            </a:r>
            <a:r>
              <a:rPr sz="2400" spc="-155" dirty="0">
                <a:solidFill>
                  <a:srgbClr val="616E52"/>
                </a:solidFill>
                <a:latin typeface="Arial"/>
                <a:cs typeface="Arial"/>
              </a:rPr>
              <a:t>AND	</a:t>
            </a:r>
            <a:r>
              <a:rPr sz="2400" spc="-180" dirty="0">
                <a:solidFill>
                  <a:srgbClr val="616E52"/>
                </a:solidFill>
                <a:latin typeface="Arial"/>
                <a:cs typeface="Arial"/>
              </a:rPr>
              <a:t>KNN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914901"/>
            <a:ext cx="12188825" cy="1943100"/>
            <a:chOff x="0" y="4914901"/>
            <a:chExt cx="12188825" cy="1943100"/>
          </a:xfrm>
        </p:grpSpPr>
        <p:sp>
          <p:nvSpPr>
            <p:cNvPr id="3" name="object 3"/>
            <p:cNvSpPr/>
            <p:nvPr/>
          </p:nvSpPr>
          <p:spPr>
            <a:xfrm>
              <a:off x="0" y="4978906"/>
              <a:ext cx="12188825" cy="1878964"/>
            </a:xfrm>
            <a:custGeom>
              <a:avLst/>
              <a:gdLst/>
              <a:ahLst/>
              <a:cxnLst/>
              <a:rect l="l" t="t" r="r" b="b"/>
              <a:pathLst>
                <a:path w="12188825" h="1878965">
                  <a:moveTo>
                    <a:pt x="12188444" y="0"/>
                  </a:moveTo>
                  <a:lnTo>
                    <a:pt x="0" y="0"/>
                  </a:lnTo>
                  <a:lnTo>
                    <a:pt x="0" y="1878584"/>
                  </a:lnTo>
                  <a:lnTo>
                    <a:pt x="12188444" y="1878584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BB56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4914901"/>
              <a:ext cx="12188825" cy="64135"/>
            </a:xfrm>
            <a:custGeom>
              <a:avLst/>
              <a:gdLst/>
              <a:ahLst/>
              <a:cxnLst/>
              <a:rect l="l" t="t" r="r" b="b"/>
              <a:pathLst>
                <a:path w="12188825" h="64135">
                  <a:moveTo>
                    <a:pt x="12188444" y="0"/>
                  </a:moveTo>
                  <a:lnTo>
                    <a:pt x="0" y="0"/>
                  </a:lnTo>
                  <a:lnTo>
                    <a:pt x="0" y="63879"/>
                  </a:lnTo>
                  <a:lnTo>
                    <a:pt x="12188444" y="63879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176019" y="321386"/>
            <a:ext cx="4008754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29" dirty="0">
                <a:solidFill>
                  <a:srgbClr val="BB562C"/>
                </a:solidFill>
              </a:rPr>
              <a:t>Classification</a:t>
            </a:r>
            <a:r>
              <a:rPr sz="3600" spc="-340" dirty="0">
                <a:solidFill>
                  <a:srgbClr val="BB562C"/>
                </a:solidFill>
              </a:rPr>
              <a:t> </a:t>
            </a:r>
            <a:r>
              <a:rPr sz="3600" spc="-280" dirty="0">
                <a:solidFill>
                  <a:srgbClr val="BB562C"/>
                </a:solidFill>
              </a:rPr>
              <a:t>Accuracy</a:t>
            </a:r>
            <a:endParaRPr sz="3600"/>
          </a:p>
        </p:txBody>
      </p:sp>
      <p:sp>
        <p:nvSpPr>
          <p:cNvPr id="6" name="object 6"/>
          <p:cNvSpPr txBox="1"/>
          <p:nvPr/>
        </p:nvSpPr>
        <p:spPr>
          <a:xfrm>
            <a:off x="1176019" y="5000396"/>
            <a:ext cx="9213215" cy="1184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860040">
              <a:lnSpc>
                <a:spcPct val="120700"/>
              </a:lnSpc>
              <a:spcBef>
                <a:spcPts val="100"/>
              </a:spcBef>
            </a:pP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All models had virtually the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same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accuracy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on the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test set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at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83.33% </a:t>
            </a:r>
            <a:r>
              <a:rPr sz="1600" spc="-45" dirty="0">
                <a:solidFill>
                  <a:srgbClr val="FFFFFF"/>
                </a:solidFill>
                <a:latin typeface="Carlito"/>
                <a:cs typeface="Carlito"/>
              </a:rPr>
              <a:t>accuracy. 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It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should be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noted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that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test size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is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small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at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only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sample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size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of</a:t>
            </a:r>
            <a:r>
              <a:rPr sz="1600" spc="-204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18.</a:t>
            </a:r>
            <a:endParaRPr sz="16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This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can cause large variance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in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accuracy results,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such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as those in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Decision </a:t>
            </a:r>
            <a:r>
              <a:rPr sz="1600" spc="-65" dirty="0">
                <a:solidFill>
                  <a:srgbClr val="FFFFFF"/>
                </a:solidFill>
                <a:latin typeface="Carlito"/>
                <a:cs typeface="Carlito"/>
              </a:rPr>
              <a:t>Tree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Classifier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model in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repeated</a:t>
            </a:r>
            <a:r>
              <a:rPr sz="1600" spc="6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runs.</a:t>
            </a:r>
            <a:endParaRPr sz="16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1600" spc="-55" dirty="0">
                <a:solidFill>
                  <a:srgbClr val="FFFFFF"/>
                </a:solidFill>
                <a:latin typeface="Carlito"/>
                <a:cs typeface="Carlito"/>
              </a:rPr>
              <a:t>We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likely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need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more data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to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determine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the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best</a:t>
            </a:r>
            <a:r>
              <a:rPr sz="1600" spc="114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model.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086100" y="1207008"/>
            <a:ext cx="5076444" cy="33375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44</a:t>
            </a:fld>
            <a:endParaRPr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914901"/>
            <a:ext cx="12188825" cy="1943100"/>
            <a:chOff x="0" y="4914901"/>
            <a:chExt cx="12188825" cy="1943100"/>
          </a:xfrm>
        </p:grpSpPr>
        <p:sp>
          <p:nvSpPr>
            <p:cNvPr id="3" name="object 3"/>
            <p:cNvSpPr/>
            <p:nvPr/>
          </p:nvSpPr>
          <p:spPr>
            <a:xfrm>
              <a:off x="0" y="4978906"/>
              <a:ext cx="12188825" cy="1878964"/>
            </a:xfrm>
            <a:custGeom>
              <a:avLst/>
              <a:gdLst/>
              <a:ahLst/>
              <a:cxnLst/>
              <a:rect l="l" t="t" r="r" b="b"/>
              <a:pathLst>
                <a:path w="12188825" h="1878965">
                  <a:moveTo>
                    <a:pt x="12188444" y="0"/>
                  </a:moveTo>
                  <a:lnTo>
                    <a:pt x="0" y="0"/>
                  </a:lnTo>
                  <a:lnTo>
                    <a:pt x="0" y="1878584"/>
                  </a:lnTo>
                  <a:lnTo>
                    <a:pt x="12188444" y="1878584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BB56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4914901"/>
              <a:ext cx="12188825" cy="64135"/>
            </a:xfrm>
            <a:custGeom>
              <a:avLst/>
              <a:gdLst/>
              <a:ahLst/>
              <a:cxnLst/>
              <a:rect l="l" t="t" r="r" b="b"/>
              <a:pathLst>
                <a:path w="12188825" h="64135">
                  <a:moveTo>
                    <a:pt x="12188444" y="0"/>
                  </a:moveTo>
                  <a:lnTo>
                    <a:pt x="0" y="0"/>
                  </a:lnTo>
                  <a:lnTo>
                    <a:pt x="0" y="63879"/>
                  </a:lnTo>
                  <a:lnTo>
                    <a:pt x="12188444" y="63879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176019" y="415493"/>
            <a:ext cx="307340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35" dirty="0">
                <a:solidFill>
                  <a:srgbClr val="BB562C"/>
                </a:solidFill>
              </a:rPr>
              <a:t>Confusion</a:t>
            </a:r>
            <a:r>
              <a:rPr sz="3600" spc="-330" dirty="0">
                <a:solidFill>
                  <a:srgbClr val="BB562C"/>
                </a:solidFill>
              </a:rPr>
              <a:t> </a:t>
            </a:r>
            <a:r>
              <a:rPr sz="3600" spc="-114" dirty="0">
                <a:solidFill>
                  <a:srgbClr val="BB562C"/>
                </a:solidFill>
              </a:rPr>
              <a:t>Matrix</a:t>
            </a:r>
            <a:endParaRPr sz="3600"/>
          </a:p>
        </p:txBody>
      </p:sp>
      <p:sp>
        <p:nvSpPr>
          <p:cNvPr id="6" name="object 6"/>
          <p:cNvSpPr txBox="1"/>
          <p:nvPr/>
        </p:nvSpPr>
        <p:spPr>
          <a:xfrm>
            <a:off x="1049223" y="5054879"/>
            <a:ext cx="8708390" cy="14598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58750">
              <a:lnSpc>
                <a:spcPct val="112500"/>
              </a:lnSpc>
              <a:spcBef>
                <a:spcPts val="100"/>
              </a:spcBef>
            </a:pP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Since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all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models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performed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the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same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for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the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test set,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the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confusion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matrix is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the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same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across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all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models.  The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models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predicted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12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successful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landings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when the true label</a:t>
            </a:r>
            <a:r>
              <a:rPr sz="1600" spc="27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was successful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landing.</a:t>
            </a:r>
            <a:endParaRPr sz="16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The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models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predicted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3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unsuccessful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landings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when the true label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was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unsuccessful</a:t>
            </a:r>
            <a:r>
              <a:rPr sz="1600" spc="14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landing.</a:t>
            </a:r>
            <a:endParaRPr sz="1600">
              <a:latin typeface="Carlito"/>
              <a:cs typeface="Carlito"/>
            </a:endParaRPr>
          </a:p>
          <a:p>
            <a:pPr marL="12700" marR="5080">
              <a:lnSpc>
                <a:spcPts val="2330"/>
              </a:lnSpc>
              <a:spcBef>
                <a:spcPts val="135"/>
              </a:spcBef>
            </a:pP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The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models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predicted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3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successful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landings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when the true label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was unsuccessful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landings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(false positives). 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Our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models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over predict successful</a:t>
            </a:r>
            <a:r>
              <a:rPr sz="1600" spc="13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landings.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075432" y="1219200"/>
            <a:ext cx="4541520" cy="34533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382381" y="2363851"/>
            <a:ext cx="216217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Carlito"/>
                <a:cs typeface="Carlito"/>
              </a:rPr>
              <a:t>Correct predictions are  </a:t>
            </a:r>
            <a:r>
              <a:rPr sz="1800" spc="-5" dirty="0">
                <a:latin typeface="Carlito"/>
                <a:cs typeface="Carlito"/>
              </a:rPr>
              <a:t>on </a:t>
            </a:r>
            <a:r>
              <a:rPr sz="1800" dirty="0">
                <a:latin typeface="Carlito"/>
                <a:cs typeface="Carlito"/>
              </a:rPr>
              <a:t>a </a:t>
            </a:r>
            <a:r>
              <a:rPr sz="1800" spc="-10" dirty="0">
                <a:latin typeface="Carlito"/>
                <a:cs typeface="Carlito"/>
              </a:rPr>
              <a:t>diagonal </a:t>
            </a:r>
            <a:r>
              <a:rPr sz="1800" spc="-20" dirty="0">
                <a:latin typeface="Carlito"/>
                <a:cs typeface="Carlito"/>
              </a:rPr>
              <a:t>from </a:t>
            </a:r>
            <a:r>
              <a:rPr sz="1800" spc="-15" dirty="0">
                <a:latin typeface="Carlito"/>
                <a:cs typeface="Carlito"/>
              </a:rPr>
              <a:t>top  </a:t>
            </a:r>
            <a:r>
              <a:rPr sz="1800" spc="-5" dirty="0">
                <a:latin typeface="Carlito"/>
                <a:cs typeface="Carlito"/>
              </a:rPr>
              <a:t>left </a:t>
            </a:r>
            <a:r>
              <a:rPr sz="1800" spc="-15" dirty="0">
                <a:latin typeface="Carlito"/>
                <a:cs typeface="Carlito"/>
              </a:rPr>
              <a:t>to </a:t>
            </a:r>
            <a:r>
              <a:rPr sz="1800" spc="-20" dirty="0">
                <a:latin typeface="Carlito"/>
                <a:cs typeface="Carlito"/>
              </a:rPr>
              <a:t>bottom</a:t>
            </a:r>
            <a:r>
              <a:rPr sz="1800" spc="-80" dirty="0">
                <a:latin typeface="Carlito"/>
                <a:cs typeface="Carlito"/>
              </a:rPr>
              <a:t> </a:t>
            </a:r>
            <a:r>
              <a:rPr sz="1800" spc="-5" dirty="0">
                <a:latin typeface="Carlito"/>
                <a:cs typeface="Carlito"/>
              </a:rPr>
              <a:t>right.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45</a:t>
            </a:fld>
            <a:endParaRPr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76019" y="506095"/>
            <a:ext cx="324485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70" dirty="0"/>
              <a:t>CONCLUSION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46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1184249" y="1746715"/>
            <a:ext cx="9956800" cy="3692525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195580" indent="-183515">
              <a:lnSpc>
                <a:spcPct val="100000"/>
              </a:lnSpc>
              <a:spcBef>
                <a:spcPts val="490"/>
              </a:spcBef>
              <a:buClr>
                <a:srgbClr val="E28312"/>
              </a:buClr>
              <a:buChar char="◦"/>
              <a:tabLst>
                <a:tab pos="196215" algn="l"/>
              </a:tabLst>
            </a:pP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Our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task: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develop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machine learning model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for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Space Y who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wants to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bid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against</a:t>
            </a:r>
            <a:r>
              <a:rPr sz="2000" spc="-7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SpaceX</a:t>
            </a:r>
            <a:endParaRPr sz="2000">
              <a:latin typeface="Carlito"/>
              <a:cs typeface="Carlito"/>
            </a:endParaRPr>
          </a:p>
          <a:p>
            <a:pPr marL="195580" indent="-183515">
              <a:lnSpc>
                <a:spcPct val="100000"/>
              </a:lnSpc>
              <a:spcBef>
                <a:spcPts val="395"/>
              </a:spcBef>
              <a:buClr>
                <a:srgbClr val="E28312"/>
              </a:buClr>
              <a:buChar char="◦"/>
              <a:tabLst>
                <a:tab pos="196215" algn="l"/>
              </a:tabLst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The goal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of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model is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predict when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Stage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1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will successfully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</a:t>
            </a:r>
            <a:r>
              <a:rPr sz="2000" spc="-35" dirty="0">
                <a:solidFill>
                  <a:srgbClr val="404040"/>
                </a:solidFill>
                <a:latin typeface="Carlito"/>
                <a:cs typeface="Carlito"/>
              </a:rPr>
              <a:t>save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~$100 million</a:t>
            </a:r>
            <a:r>
              <a:rPr sz="2000" spc="-11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USD</a:t>
            </a:r>
            <a:endParaRPr sz="2000">
              <a:latin typeface="Carlito"/>
              <a:cs typeface="Carlito"/>
            </a:endParaRPr>
          </a:p>
          <a:p>
            <a:pPr marL="195580" indent="-183515">
              <a:lnSpc>
                <a:spcPct val="100000"/>
              </a:lnSpc>
              <a:spcBef>
                <a:spcPts val="409"/>
              </a:spcBef>
              <a:buClr>
                <a:srgbClr val="E28312"/>
              </a:buClr>
              <a:buChar char="◦"/>
              <a:tabLst>
                <a:tab pos="196215" algn="l"/>
              </a:tabLst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Used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data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from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public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SpaceX API and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web scraping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SpaceX Wikipedia</a:t>
            </a:r>
            <a:r>
              <a:rPr sz="2000" spc="-19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page</a:t>
            </a:r>
            <a:endParaRPr sz="2000">
              <a:latin typeface="Carlito"/>
              <a:cs typeface="Carlito"/>
            </a:endParaRPr>
          </a:p>
          <a:p>
            <a:pPr marL="195580" indent="-183515">
              <a:lnSpc>
                <a:spcPct val="100000"/>
              </a:lnSpc>
              <a:spcBef>
                <a:spcPts val="400"/>
              </a:spcBef>
              <a:buClr>
                <a:srgbClr val="E28312"/>
              </a:buClr>
              <a:buChar char="◦"/>
              <a:tabLst>
                <a:tab pos="196215" algn="l"/>
              </a:tabLst>
            </a:pP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Created data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labels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stored data into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DB2 SQL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database</a:t>
            </a:r>
            <a:endParaRPr sz="2000">
              <a:latin typeface="Carlito"/>
              <a:cs typeface="Carlito"/>
            </a:endParaRPr>
          </a:p>
          <a:p>
            <a:pPr marL="195580" indent="-183515">
              <a:lnSpc>
                <a:spcPct val="100000"/>
              </a:lnSpc>
              <a:spcBef>
                <a:spcPts val="395"/>
              </a:spcBef>
              <a:buClr>
                <a:srgbClr val="E28312"/>
              </a:buClr>
              <a:buChar char="◦"/>
              <a:tabLst>
                <a:tab pos="196215" algn="l"/>
              </a:tabLst>
            </a:pP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Created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dashboard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for</a:t>
            </a:r>
            <a:r>
              <a:rPr sz="2000" spc="-12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visualization</a:t>
            </a:r>
            <a:endParaRPr sz="2000">
              <a:latin typeface="Carlito"/>
              <a:cs typeface="Carlito"/>
            </a:endParaRPr>
          </a:p>
          <a:p>
            <a:pPr marL="195580" indent="-183515">
              <a:lnSpc>
                <a:spcPct val="100000"/>
              </a:lnSpc>
              <a:spcBef>
                <a:spcPts val="405"/>
              </a:spcBef>
              <a:buClr>
                <a:srgbClr val="E28312"/>
              </a:buClr>
              <a:buChar char="◦"/>
              <a:tabLst>
                <a:tab pos="196215" algn="l"/>
              </a:tabLst>
            </a:pPr>
            <a:r>
              <a:rPr sz="2000" spc="-50" dirty="0">
                <a:solidFill>
                  <a:srgbClr val="404040"/>
                </a:solidFill>
                <a:latin typeface="Carlito"/>
                <a:cs typeface="Carlito"/>
              </a:rPr>
              <a:t>We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created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machine learning model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with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accuracy of</a:t>
            </a:r>
            <a:r>
              <a:rPr sz="2000" spc="-10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83%</a:t>
            </a:r>
            <a:endParaRPr sz="2000">
              <a:latin typeface="Carlito"/>
              <a:cs typeface="Carlito"/>
            </a:endParaRPr>
          </a:p>
          <a:p>
            <a:pPr marL="195580" marR="276860" indent="-183515">
              <a:lnSpc>
                <a:spcPts val="2160"/>
              </a:lnSpc>
              <a:spcBef>
                <a:spcPts val="635"/>
              </a:spcBef>
              <a:buClr>
                <a:srgbClr val="E28312"/>
              </a:buClr>
              <a:buChar char="◦"/>
              <a:tabLst>
                <a:tab pos="196215" algn="l"/>
              </a:tabLst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Allon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Mask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SpaceY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can use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this model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predict with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relatively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high accuracy whether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 launch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will </a:t>
            </a:r>
            <a:r>
              <a:rPr sz="2000" spc="-35" dirty="0">
                <a:solidFill>
                  <a:srgbClr val="404040"/>
                </a:solidFill>
                <a:latin typeface="Carlito"/>
                <a:cs typeface="Carlito"/>
              </a:rPr>
              <a:t>have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successful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Stage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1 landing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before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launch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determine whether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launch 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should be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made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or</a:t>
            </a:r>
            <a:r>
              <a:rPr sz="2000" spc="-10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not</a:t>
            </a:r>
            <a:endParaRPr sz="2000">
              <a:latin typeface="Carlito"/>
              <a:cs typeface="Carlito"/>
            </a:endParaRPr>
          </a:p>
          <a:p>
            <a:pPr marL="195580" marR="5080" indent="-183515">
              <a:lnSpc>
                <a:spcPts val="2200"/>
              </a:lnSpc>
              <a:spcBef>
                <a:spcPts val="605"/>
              </a:spcBef>
              <a:buClr>
                <a:srgbClr val="E28312"/>
              </a:buClr>
              <a:buChar char="◦"/>
              <a:tabLst>
                <a:tab pos="196215" algn="l"/>
              </a:tabLst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If possible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more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data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should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be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collected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better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determine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best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machine learning model  and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improve</a:t>
            </a:r>
            <a:r>
              <a:rPr sz="2000" spc="-3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accuracy</a:t>
            </a:r>
            <a:endParaRPr sz="20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76019" y="506095"/>
            <a:ext cx="245427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50" dirty="0"/>
              <a:t>APPENDIX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47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1176019" y="1496901"/>
            <a:ext cx="8401050" cy="3782446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95"/>
              </a:spcBef>
            </a:pPr>
            <a:r>
              <a:rPr sz="2000" u="heavy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GitHub </a:t>
            </a:r>
            <a:r>
              <a:rPr sz="2000" u="heavy" spc="-1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repository</a:t>
            </a:r>
            <a:r>
              <a:rPr sz="2000" u="heavy" spc="-4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 </a:t>
            </a:r>
            <a:r>
              <a:rPr sz="2000" u="heavy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url:</a:t>
            </a:r>
            <a:endParaRPr sz="200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lang="en-IN" sz="2000" u="heavy" spc="-10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Carlito"/>
                <a:cs typeface="Carlito"/>
                <a:hlinkClick r:id="rId2"/>
              </a:rPr>
              <a:t>https://github.com/navassherif98/IBM_Data_Science_Professional_Certification</a:t>
            </a:r>
            <a:endParaRPr sz="2000" dirty="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75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u="heavy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Instructor</a:t>
            </a:r>
            <a:r>
              <a:rPr lang="en-IN" sz="2000" u="heavy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s</a:t>
            </a:r>
            <a:r>
              <a:rPr sz="2000" u="heavy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:</a:t>
            </a:r>
            <a:endParaRPr sz="2000" dirty="0">
              <a:latin typeface="Carlito"/>
              <a:cs typeface="Carlito"/>
            </a:endParaRPr>
          </a:p>
          <a:p>
            <a:pPr algn="l"/>
            <a:r>
              <a:rPr lang="en-IN" sz="2000" b="1" i="0" dirty="0">
                <a:solidFill>
                  <a:srgbClr val="24292F"/>
                </a:solidFill>
                <a:effectLst/>
                <a:latin typeface="-apple-system"/>
              </a:rPr>
              <a:t>Instructors: </a:t>
            </a:r>
            <a:r>
              <a:rPr lang="en-IN" sz="2000" b="1" i="0" dirty="0" err="1">
                <a:solidFill>
                  <a:srgbClr val="24292F"/>
                </a:solidFill>
                <a:effectLst/>
                <a:latin typeface="-apple-system"/>
              </a:rPr>
              <a:t>Rav</a:t>
            </a:r>
            <a:r>
              <a:rPr lang="en-IN" sz="2000" b="1" i="0" dirty="0">
                <a:solidFill>
                  <a:srgbClr val="24292F"/>
                </a:solidFill>
                <a:effectLst/>
                <a:latin typeface="-apple-system"/>
              </a:rPr>
              <a:t> Ahuja, Alex </a:t>
            </a:r>
            <a:r>
              <a:rPr lang="en-IN" sz="2000" b="1" i="0" dirty="0" err="1">
                <a:solidFill>
                  <a:srgbClr val="24292F"/>
                </a:solidFill>
                <a:effectLst/>
                <a:latin typeface="-apple-system"/>
              </a:rPr>
              <a:t>Aklson</a:t>
            </a:r>
            <a:r>
              <a:rPr lang="en-IN" sz="2000" b="1" i="0" dirty="0">
                <a:solidFill>
                  <a:srgbClr val="24292F"/>
                </a:solidFill>
                <a:effectLst/>
                <a:latin typeface="-apple-system"/>
              </a:rPr>
              <a:t>, </a:t>
            </a:r>
            <a:r>
              <a:rPr lang="en-IN" sz="2000" b="1" i="0" dirty="0" err="1">
                <a:solidFill>
                  <a:srgbClr val="24292F"/>
                </a:solidFill>
                <a:effectLst/>
                <a:latin typeface="-apple-system"/>
              </a:rPr>
              <a:t>Aije</a:t>
            </a:r>
            <a:r>
              <a:rPr lang="en-IN" sz="2000" b="1" i="0" dirty="0">
                <a:solidFill>
                  <a:srgbClr val="24292F"/>
                </a:solidFill>
                <a:effectLst/>
                <a:latin typeface="-apple-system"/>
              </a:rPr>
              <a:t> </a:t>
            </a:r>
            <a:r>
              <a:rPr lang="en-IN" sz="2000" b="1" i="0" dirty="0" err="1">
                <a:solidFill>
                  <a:srgbClr val="24292F"/>
                </a:solidFill>
                <a:effectLst/>
                <a:latin typeface="-apple-system"/>
              </a:rPr>
              <a:t>Egwaikhide</a:t>
            </a:r>
            <a:r>
              <a:rPr lang="en-IN" sz="2000" b="1" i="0" dirty="0">
                <a:solidFill>
                  <a:srgbClr val="24292F"/>
                </a:solidFill>
                <a:effectLst/>
                <a:latin typeface="-apple-system"/>
              </a:rPr>
              <a:t>, Svetlana Levitan, Romeo </a:t>
            </a:r>
            <a:r>
              <a:rPr lang="en-IN" sz="2000" b="1" i="0" dirty="0" err="1">
                <a:solidFill>
                  <a:srgbClr val="24292F"/>
                </a:solidFill>
                <a:effectLst/>
                <a:latin typeface="-apple-system"/>
              </a:rPr>
              <a:t>Kienzler</a:t>
            </a:r>
            <a:r>
              <a:rPr lang="en-IN" sz="2000" b="1" i="0" dirty="0">
                <a:solidFill>
                  <a:srgbClr val="24292F"/>
                </a:solidFill>
                <a:effectLst/>
                <a:latin typeface="-apple-system"/>
              </a:rPr>
              <a:t>, </a:t>
            </a:r>
            <a:r>
              <a:rPr lang="en-IN" sz="2000" b="1" i="0" dirty="0" err="1">
                <a:solidFill>
                  <a:srgbClr val="24292F"/>
                </a:solidFill>
                <a:effectLst/>
                <a:latin typeface="-apple-system"/>
              </a:rPr>
              <a:t>Polong</a:t>
            </a:r>
            <a:r>
              <a:rPr lang="en-IN" sz="2000" b="1" i="0" dirty="0">
                <a:solidFill>
                  <a:srgbClr val="24292F"/>
                </a:solidFill>
                <a:effectLst/>
                <a:latin typeface="-apple-system"/>
              </a:rPr>
              <a:t> Lin, Joseph </a:t>
            </a:r>
            <a:r>
              <a:rPr lang="en-IN" sz="2000" b="1" i="0" dirty="0" err="1">
                <a:solidFill>
                  <a:srgbClr val="24292F"/>
                </a:solidFill>
                <a:effectLst/>
                <a:latin typeface="-apple-system"/>
              </a:rPr>
              <a:t>Santarcangelo</a:t>
            </a:r>
            <a:r>
              <a:rPr lang="en-IN" sz="2000" b="1" i="0" dirty="0">
                <a:solidFill>
                  <a:srgbClr val="24292F"/>
                </a:solidFill>
                <a:effectLst/>
                <a:latin typeface="-apple-system"/>
              </a:rPr>
              <a:t>, Azim </a:t>
            </a:r>
            <a:r>
              <a:rPr lang="en-IN" sz="2000" b="1" i="0" dirty="0" err="1">
                <a:solidFill>
                  <a:srgbClr val="24292F"/>
                </a:solidFill>
                <a:effectLst/>
                <a:latin typeface="-apple-system"/>
              </a:rPr>
              <a:t>Hirjani</a:t>
            </a:r>
            <a:r>
              <a:rPr lang="en-IN" sz="2000" b="1" i="0" dirty="0">
                <a:solidFill>
                  <a:srgbClr val="24292F"/>
                </a:solidFill>
                <a:effectLst/>
                <a:latin typeface="-apple-system"/>
              </a:rPr>
              <a:t>, </a:t>
            </a:r>
            <a:r>
              <a:rPr lang="en-IN" sz="2000" b="1" i="0" dirty="0" err="1">
                <a:solidFill>
                  <a:srgbClr val="24292F"/>
                </a:solidFill>
                <a:effectLst/>
                <a:latin typeface="-apple-system"/>
              </a:rPr>
              <a:t>Hima</a:t>
            </a:r>
            <a:r>
              <a:rPr lang="en-IN" sz="2000" b="1" i="0" dirty="0">
                <a:solidFill>
                  <a:srgbClr val="24292F"/>
                </a:solidFill>
                <a:effectLst/>
                <a:latin typeface="-apple-system"/>
              </a:rPr>
              <a:t> Vasudevan, </a:t>
            </a:r>
            <a:r>
              <a:rPr lang="en-IN" sz="2000" b="1" i="0" dirty="0" err="1">
                <a:solidFill>
                  <a:srgbClr val="24292F"/>
                </a:solidFill>
                <a:effectLst/>
                <a:latin typeface="-apple-system"/>
              </a:rPr>
              <a:t>Saishruthi</a:t>
            </a:r>
            <a:r>
              <a:rPr lang="en-IN" sz="2000" b="1" i="0" dirty="0">
                <a:solidFill>
                  <a:srgbClr val="24292F"/>
                </a:solidFill>
                <a:effectLst/>
                <a:latin typeface="-apple-system"/>
              </a:rPr>
              <a:t> Swaminathan, Saeed </a:t>
            </a:r>
            <a:r>
              <a:rPr lang="en-IN" sz="2000" b="1" i="0" dirty="0" err="1">
                <a:solidFill>
                  <a:srgbClr val="24292F"/>
                </a:solidFill>
                <a:effectLst/>
                <a:latin typeface="-apple-system"/>
              </a:rPr>
              <a:t>Aghabozorgi</a:t>
            </a:r>
            <a:r>
              <a:rPr lang="en-IN" sz="2000" b="1" i="0" dirty="0">
                <a:solidFill>
                  <a:srgbClr val="24292F"/>
                </a:solidFill>
                <a:effectLst/>
                <a:latin typeface="-apple-system"/>
              </a:rPr>
              <a:t>, Yan Luo</a:t>
            </a:r>
          </a:p>
          <a:p>
            <a:pPr>
              <a:lnSpc>
                <a:spcPct val="100000"/>
              </a:lnSpc>
            </a:pPr>
            <a:endParaRPr sz="2000" dirty="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75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u="heavy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Special </a:t>
            </a:r>
            <a:r>
              <a:rPr sz="2000" u="heavy" spc="-1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Thanks </a:t>
            </a:r>
            <a:r>
              <a:rPr sz="2000" u="heavy" spc="-2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to </a:t>
            </a:r>
            <a:r>
              <a:rPr sz="2000" u="heavy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All </a:t>
            </a:r>
            <a:r>
              <a:rPr sz="2000" u="heavy" spc="-2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Instructors:</a:t>
            </a:r>
            <a:endParaRPr sz="200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u="heavy" spc="-20" dirty="0">
                <a:solidFill>
                  <a:srgbClr val="800080"/>
                </a:solidFill>
                <a:uFill>
                  <a:solidFill>
                    <a:srgbClr val="2996E1"/>
                  </a:solidFill>
                </a:uFill>
                <a:latin typeface="Carlito"/>
                <a:cs typeface="Carlito"/>
                <a:hlinkClick r:id="rId3"/>
              </a:rPr>
              <a:t>https://www.coursera.org/professional-certificates/ibm-data-science?#instructors</a:t>
            </a:r>
            <a:endParaRPr sz="20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</TotalTime>
  <Words>2567</Words>
  <Application>Microsoft Office PowerPoint</Application>
  <PresentationFormat>Widescreen</PresentationFormat>
  <Paragraphs>288</Paragraphs>
  <Slides>47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4" baseType="lpstr">
      <vt:lpstr>-apple-system</vt:lpstr>
      <vt:lpstr>Arial</vt:lpstr>
      <vt:lpstr>Bahnschrift Condensed</vt:lpstr>
      <vt:lpstr>Bahnschrift Light SemiCondensed</vt:lpstr>
      <vt:lpstr>Calibri</vt:lpstr>
      <vt:lpstr>Carlito</vt:lpstr>
      <vt:lpstr>Office Theme</vt:lpstr>
      <vt:lpstr>PowerPoint Presentation</vt:lpstr>
      <vt:lpstr>Outline </vt:lpstr>
      <vt:lpstr>Executive Summary </vt:lpstr>
      <vt:lpstr>Introduction</vt:lpstr>
      <vt:lpstr>Methodology </vt:lpstr>
      <vt:lpstr>PowerPoint Presentation</vt:lpstr>
      <vt:lpstr>Data Collection Overview</vt:lpstr>
      <vt:lpstr>Filter data to only  include Falcon 9  launches</vt:lpstr>
      <vt:lpstr>PowerPoint Presentation</vt:lpstr>
      <vt:lpstr>Data Wrangling</vt:lpstr>
      <vt:lpstr>EDA with Data Visualization</vt:lpstr>
      <vt:lpstr>EDA with SQL</vt:lpstr>
      <vt:lpstr>Build an interactive map with Folium</vt:lpstr>
      <vt:lpstr>Build a Dashboard with Plotly Dash</vt:lpstr>
      <vt:lpstr>Predictive analysis (Classification)</vt:lpstr>
      <vt:lpstr>Results </vt:lpstr>
      <vt:lpstr>PowerPoint Presentation</vt:lpstr>
      <vt:lpstr>Flight Number vs. Launch Site</vt:lpstr>
      <vt:lpstr>Payload vs. Launch Site</vt:lpstr>
      <vt:lpstr>Success rate vs. Orbit type</vt:lpstr>
      <vt:lpstr>Flight Number vs. Orbit type</vt:lpstr>
      <vt:lpstr>Payload vs. Orbit type</vt:lpstr>
      <vt:lpstr>Launch Success Yearly Trend</vt:lpstr>
      <vt:lpstr>PowerPoint Presentation</vt:lpstr>
      <vt:lpstr>All Launch Site Names</vt:lpstr>
      <vt:lpstr>Launch Site Names Beginning with `CCA`</vt:lpstr>
      <vt:lpstr>Total Payload Mass from NASA</vt:lpstr>
      <vt:lpstr>Average Payload Mass by F9 v1.1</vt:lpstr>
      <vt:lpstr>First Successful Ground Pad Landing Date</vt:lpstr>
      <vt:lpstr>Successful Drone Ship Landing with Payload  Between 4000 and 6000</vt:lpstr>
      <vt:lpstr>Total Number of Each Mission Outcome</vt:lpstr>
      <vt:lpstr>Boosters that Carried Maximum Payload</vt:lpstr>
      <vt:lpstr>2015 Failed Drone Ship Landing Records</vt:lpstr>
      <vt:lpstr>Ranking Counts of Successful Landings  Between 2010-06-04 and 2017-03-20</vt:lpstr>
      <vt:lpstr>Interactive Map with  Folium</vt:lpstr>
      <vt:lpstr>Launch Site Locations </vt:lpstr>
      <vt:lpstr>Color-Coded Launch Markers </vt:lpstr>
      <vt:lpstr>Key Location Proximities </vt:lpstr>
      <vt:lpstr>Build a Dashboard with  Plotly Dash</vt:lpstr>
      <vt:lpstr>Successful Launches Across Launch Sites </vt:lpstr>
      <vt:lpstr>Highest Success Rate Launch Site </vt:lpstr>
      <vt:lpstr>Payload Mass vs. Success vs. Booster  Version Category </vt:lpstr>
      <vt:lpstr>PowerPoint Presentation</vt:lpstr>
      <vt:lpstr>Classification Accuracy</vt:lpstr>
      <vt:lpstr>Confusion Matrix</vt:lpstr>
      <vt:lpstr>CONCLUSION</vt:lpstr>
      <vt:lpstr>APPENDIX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&lt;Title&gt;</dc:title>
  <dc:creator>YAN Luo</dc:creator>
  <cp:lastModifiedBy>PC-3</cp:lastModifiedBy>
  <cp:revision>1</cp:revision>
  <dcterms:created xsi:type="dcterms:W3CDTF">2021-08-26T16:53:12Z</dcterms:created>
  <dcterms:modified xsi:type="dcterms:W3CDTF">2026-06-09T09:50:33Z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2021-08-26T00:00:00Z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2021-08-26T00:00:00Z</vt:filetime>
  </property>
</Properties>
</file>